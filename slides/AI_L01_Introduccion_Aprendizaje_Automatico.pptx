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929"/>
          </a:solidFill>
          <a:ln/>
        </p:spPr>
      </p:sp>
      <p:sp>
        <p:nvSpPr>
          <p:cNvPr id="3" name="Shape 1"/>
          <p:cNvSpPr/>
          <p:nvPr/>
        </p:nvSpPr>
        <p:spPr>
          <a:xfrm>
            <a:off x="0" y="4389120"/>
            <a:ext cx="9144000" cy="54864"/>
          </a:xfrm>
          <a:prstGeom prst="rect">
            <a:avLst/>
          </a:prstGeom>
          <a:solidFill>
            <a:srgbClr val="2E75B6"/>
          </a:solidFill>
          <a:ln/>
        </p:spPr>
      </p:sp>
      <p:sp>
        <p:nvSpPr>
          <p:cNvPr id="4" name="Shape 2"/>
          <p:cNvSpPr/>
          <p:nvPr/>
        </p:nvSpPr>
        <p:spPr>
          <a:xfrm>
            <a:off x="457200" y="274320"/>
            <a:ext cx="54864" cy="3200400"/>
          </a:xfrm>
          <a:prstGeom prst="rect">
            <a:avLst/>
          </a:prstGeom>
          <a:solidFill>
            <a:srgbClr val="F6AD55"/>
          </a:solidFill>
          <a:ln/>
        </p:spPr>
      </p:sp>
      <p:sp>
        <p:nvSpPr>
          <p:cNvPr id="5" name="Text 3"/>
          <p:cNvSpPr/>
          <p:nvPr/>
        </p:nvSpPr>
        <p:spPr>
          <a:xfrm>
            <a:off x="822960" y="457200"/>
            <a:ext cx="7315200" cy="457200"/>
          </a:xfrm>
          <a:prstGeom prst="rect">
            <a:avLst/>
          </a:prstGeom>
          <a:noFill/>
          <a:ln/>
        </p:spPr>
        <p:txBody>
          <a:bodyPr wrap="square" rtlCol="0" anchor="ctr"/>
          <a:lstStyle/>
          <a:p>
            <a:pPr indent="0" marL="0">
              <a:buNone/>
            </a:pPr>
            <a:r>
              <a:rPr lang="en-US" sz="1600" spc="400" kern="0" dirty="0">
                <a:solidFill>
                  <a:srgbClr val="F6AD55"/>
                </a:solidFill>
                <a:latin typeface="Calibri" pitchFamily="34" charset="0"/>
                <a:ea typeface="Calibri" pitchFamily="34" charset="-122"/>
                <a:cs typeface="Calibri" pitchFamily="34" charset="-120"/>
              </a:rPr>
              <a:t>Lectura 01</a:t>
            </a:r>
            <a:endParaRPr lang="en-US" sz="1600" dirty="0"/>
          </a:p>
        </p:txBody>
      </p:sp>
      <p:sp>
        <p:nvSpPr>
          <p:cNvPr id="6" name="Text 4"/>
          <p:cNvSpPr/>
          <p:nvPr/>
        </p:nvSpPr>
        <p:spPr>
          <a:xfrm>
            <a:off x="822960" y="1005840"/>
            <a:ext cx="77724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De Reglas a Redes</a:t>
            </a:r>
            <a:endParaRPr lang="en-US" sz="4000" dirty="0"/>
          </a:p>
        </p:txBody>
      </p:sp>
      <p:sp>
        <p:nvSpPr>
          <p:cNvPr id="7" name="Text 5"/>
          <p:cNvSpPr/>
          <p:nvPr/>
        </p:nvSpPr>
        <p:spPr>
          <a:xfrm>
            <a:off x="822960" y="1920240"/>
            <a:ext cx="7315200" cy="548640"/>
          </a:xfrm>
          <a:prstGeom prst="rect">
            <a:avLst/>
          </a:prstGeom>
          <a:noFill/>
          <a:ln/>
        </p:spPr>
        <p:txBody>
          <a:bodyPr wrap="square" rtlCol="0" anchor="ctr"/>
          <a:lstStyle/>
          <a:p>
            <a:pPr indent="0" marL="0">
              <a:buNone/>
            </a:pPr>
            <a:r>
              <a:rPr lang="en-US" sz="2200" dirty="0">
                <a:solidFill>
                  <a:srgbClr val="4A90D9"/>
                </a:solidFill>
                <a:latin typeface="Calibri" pitchFamily="34" charset="0"/>
                <a:ea typeface="Calibri" pitchFamily="34" charset="-122"/>
                <a:cs typeface="Calibri" pitchFamily="34" charset="-120"/>
              </a:rPr>
              <a:t>Introduccion al Aprendizaje Automatico</a:t>
            </a:r>
            <a:endParaRPr lang="en-US" sz="2200" dirty="0"/>
          </a:p>
        </p:txBody>
      </p:sp>
      <p:sp>
        <p:nvSpPr>
          <p:cNvPr id="8" name="Text 6"/>
          <p:cNvSpPr/>
          <p:nvPr/>
        </p:nvSpPr>
        <p:spPr>
          <a:xfrm>
            <a:off x="822960" y="2743200"/>
            <a:ext cx="5486400" cy="365760"/>
          </a:xfrm>
          <a:prstGeom prst="rect">
            <a:avLst/>
          </a:prstGeom>
          <a:noFill/>
          <a:ln/>
        </p:spPr>
        <p:txBody>
          <a:bodyPr wrap="square" rtlCol="0" anchor="ctr"/>
          <a:lstStyle/>
          <a:p>
            <a:pPr indent="0" marL="0">
              <a:buNone/>
            </a:pPr>
            <a:r>
              <a:rPr lang="en-US" sz="1400" dirty="0">
                <a:solidFill>
                  <a:srgbClr val="718096"/>
                </a:solidFill>
                <a:latin typeface="Calibri" pitchFamily="34" charset="0"/>
                <a:ea typeface="Calibri" pitchFamily="34" charset="-122"/>
                <a:cs typeface="Calibri" pitchFamily="34" charset="-120"/>
              </a:rPr>
              <a:t>Modulo: Inteligencia Artificial | TC3002B</a:t>
            </a:r>
            <a:endParaRPr lang="en-US" sz="1400" dirty="0"/>
          </a:p>
        </p:txBody>
      </p:sp>
      <p:sp>
        <p:nvSpPr>
          <p:cNvPr id="9" name="Text 7"/>
          <p:cNvSpPr/>
          <p:nvPr/>
        </p:nvSpPr>
        <p:spPr>
          <a:xfrm>
            <a:off x="822960" y="4526280"/>
            <a:ext cx="4572000" cy="365760"/>
          </a:xfrm>
          <a:prstGeom prst="rect">
            <a:avLst/>
          </a:prstGeom>
          <a:noFill/>
          <a:ln/>
        </p:spPr>
        <p:txBody>
          <a:bodyPr wrap="square" rtlCol="0" anchor="ctr"/>
          <a:lstStyle/>
          <a:p>
            <a:pPr indent="0" marL="0">
              <a:buNone/>
            </a:pPr>
            <a:r>
              <a:rPr lang="en-US" sz="1200" dirty="0">
                <a:solidFill>
                  <a:srgbClr val="718096"/>
                </a:solidFill>
                <a:latin typeface="Calibri" pitchFamily="34" charset="0"/>
                <a:ea typeface="Calibri" pitchFamily="34" charset="-122"/>
                <a:cs typeface="Calibri" pitchFamily="34" charset="-120"/>
              </a:rPr>
              <a:t>Tecnologico de Monterrey — Semana 1</a:t>
            </a:r>
            <a:endParaRPr lang="en-US" sz="1200" dirty="0"/>
          </a:p>
        </p:txBody>
      </p:sp>
      <p:pic>
        <p:nvPicPr>
          <p:cNvPr id="10" name="Image 0" descr="preencoded.png">    </p:cNvPr>
          <p:cNvPicPr>
            <a:picLocks noChangeAspect="1"/>
          </p:cNvPicPr>
          <p:nvPr/>
        </p:nvPicPr>
        <p:blipFill>
          <a:blip r:embed="rId1"/>
          <a:stretch>
            <a:fillRect/>
          </a:stretch>
        </p:blipFill>
        <p:spPr>
          <a:xfrm>
            <a:off x="7772400" y="91440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F6AD55"/>
          </a:solidFill>
          <a:ln/>
        </p:spPr>
      </p:sp>
      <p:sp>
        <p:nvSpPr>
          <p:cNvPr id="3" name="Text 1"/>
          <p:cNvSpPr/>
          <p:nvPr/>
        </p:nvSpPr>
        <p:spPr>
          <a:xfrm>
            <a:off x="548640" y="274320"/>
            <a:ext cx="2743200" cy="365760"/>
          </a:xfrm>
          <a:prstGeom prst="rect">
            <a:avLst/>
          </a:prstGeom>
          <a:noFill/>
          <a:ln/>
        </p:spPr>
        <p:txBody>
          <a:bodyPr wrap="square" rtlCol="0" anchor="ctr"/>
          <a:lstStyle/>
          <a:p>
            <a:pPr indent="0" marL="0">
              <a:buNone/>
            </a:pPr>
            <a:r>
              <a:rPr lang="en-US" sz="1400" spc="300" kern="0" dirty="0">
                <a:solidFill>
                  <a:srgbClr val="F6AD55"/>
                </a:solidFill>
                <a:latin typeface="Calibri" pitchFamily="34" charset="0"/>
                <a:ea typeface="Calibri" pitchFamily="34" charset="-122"/>
                <a:cs typeface="Calibri" pitchFamily="34" charset="-120"/>
              </a:rPr>
              <a:t>El Hook</a:t>
            </a:r>
            <a:endParaRPr lang="en-US" sz="1400" dirty="0"/>
          </a:p>
        </p:txBody>
      </p:sp>
      <p:sp>
        <p:nvSpPr>
          <p:cNvPr id="4" name="Text 2"/>
          <p:cNvSpPr/>
          <p:nvPr/>
        </p:nvSpPr>
        <p:spPr>
          <a:xfrm>
            <a:off x="548640" y="731520"/>
            <a:ext cx="8046720" cy="6400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Cuando las Reglas No Alcanzan</a:t>
            </a:r>
            <a:endParaRPr lang="en-US" sz="3000" dirty="0"/>
          </a:p>
        </p:txBody>
      </p:sp>
      <p:sp>
        <p:nvSpPr>
          <p:cNvPr id="5" name="Shape 3"/>
          <p:cNvSpPr/>
          <p:nvPr/>
        </p:nvSpPr>
        <p:spPr>
          <a:xfrm>
            <a:off x="548640" y="1645920"/>
            <a:ext cx="374904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645920"/>
            <a:ext cx="3749040" cy="54864"/>
          </a:xfrm>
          <a:prstGeom prst="rect">
            <a:avLst/>
          </a:prstGeom>
          <a:solidFill>
            <a:srgbClr val="2E75B6"/>
          </a:solidFill>
          <a:ln/>
        </p:spPr>
      </p:sp>
      <p:sp>
        <p:nvSpPr>
          <p:cNvPr id="7" name="Text 5"/>
          <p:cNvSpPr/>
          <p:nvPr/>
        </p:nvSpPr>
        <p:spPr>
          <a:xfrm>
            <a:off x="731520" y="1828800"/>
            <a:ext cx="3383280" cy="365760"/>
          </a:xfrm>
          <a:prstGeom prst="rect">
            <a:avLst/>
          </a:prstGeom>
          <a:noFill/>
          <a:ln/>
        </p:spPr>
        <p:txBody>
          <a:bodyPr wrap="square" lIns="0" tIns="0" rIns="0" bIns="0" rtlCol="0" anchor="ctr"/>
          <a:lstStyle/>
          <a:p>
            <a:pPr indent="0" marL="0">
              <a:buNone/>
            </a:pPr>
            <a:r>
              <a:rPr lang="en-US" sz="1800" b="1" dirty="0">
                <a:solidFill>
                  <a:srgbClr val="003366"/>
                </a:solidFill>
                <a:latin typeface="Georgia" pitchFamily="34" charset="0"/>
                <a:ea typeface="Georgia" pitchFamily="34" charset="-122"/>
                <a:cs typeface="Georgia" pitchFamily="34" charset="-120"/>
              </a:rPr>
              <a:t>IBM Watson (2011)</a:t>
            </a:r>
            <a:endParaRPr lang="en-US" sz="1800" dirty="0"/>
          </a:p>
        </p:txBody>
      </p:sp>
      <p:sp>
        <p:nvSpPr>
          <p:cNvPr id="8" name="Text 6"/>
          <p:cNvSpPr/>
          <p:nvPr/>
        </p:nvSpPr>
        <p:spPr>
          <a:xfrm>
            <a:off x="731520" y="2286000"/>
            <a:ext cx="3383280" cy="1463040"/>
          </a:xfrm>
          <a:prstGeom prst="rect">
            <a:avLst/>
          </a:prstGeom>
          <a:noFill/>
          <a:ln/>
        </p:spPr>
        <p:txBody>
          <a:bodyPr wrap="square" rtlCol="0" anchor="ctr"/>
          <a:lstStyle/>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Miles de reglas codificadas a mano</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4 anos de desarrollo</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Equipo de docenas de ingenieros</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Venció a campeones de Jeopardy!</a:t>
            </a:r>
            <a:endParaRPr lang="en-US" sz="1300" dirty="0"/>
          </a:p>
        </p:txBody>
      </p:sp>
      <p:sp>
        <p:nvSpPr>
          <p:cNvPr id="9" name="Shape 7"/>
          <p:cNvSpPr/>
          <p:nvPr/>
        </p:nvSpPr>
        <p:spPr>
          <a:xfrm>
            <a:off x="4846320" y="1645920"/>
            <a:ext cx="374904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4846320" y="1645920"/>
            <a:ext cx="3749040" cy="54864"/>
          </a:xfrm>
          <a:prstGeom prst="rect">
            <a:avLst/>
          </a:prstGeom>
          <a:solidFill>
            <a:srgbClr val="F6AD55"/>
          </a:solidFill>
          <a:ln/>
        </p:spPr>
      </p:sp>
      <p:sp>
        <p:nvSpPr>
          <p:cNvPr id="11" name="Text 9"/>
          <p:cNvSpPr/>
          <p:nvPr/>
        </p:nvSpPr>
        <p:spPr>
          <a:xfrm>
            <a:off x="5029200" y="1828800"/>
            <a:ext cx="3383280" cy="365760"/>
          </a:xfrm>
          <a:prstGeom prst="rect">
            <a:avLst/>
          </a:prstGeom>
          <a:noFill/>
          <a:ln/>
        </p:spPr>
        <p:txBody>
          <a:bodyPr wrap="square" lIns="0" tIns="0" rIns="0" bIns="0" rtlCol="0" anchor="ctr"/>
          <a:lstStyle/>
          <a:p>
            <a:pPr indent="0" marL="0">
              <a:buNone/>
            </a:pPr>
            <a:r>
              <a:rPr lang="en-US" sz="1800" b="1" dirty="0">
                <a:solidFill>
                  <a:srgbClr val="003366"/>
                </a:solidFill>
                <a:latin typeface="Georgia" pitchFamily="34" charset="0"/>
                <a:ea typeface="Georgia" pitchFamily="34" charset="-122"/>
                <a:cs typeface="Georgia" pitchFamily="34" charset="-120"/>
              </a:rPr>
              <a:t>ChatGPT (2023)</a:t>
            </a:r>
            <a:endParaRPr lang="en-US" sz="1800" dirty="0"/>
          </a:p>
        </p:txBody>
      </p:sp>
      <p:sp>
        <p:nvSpPr>
          <p:cNvPr id="12" name="Text 10"/>
          <p:cNvSpPr/>
          <p:nvPr/>
        </p:nvSpPr>
        <p:spPr>
          <a:xfrm>
            <a:off x="5029200" y="2286000"/>
            <a:ext cx="3383280" cy="1463040"/>
          </a:xfrm>
          <a:prstGeom prst="rect">
            <a:avLst/>
          </a:prstGeom>
          <a:noFill/>
          <a:ln/>
        </p:spPr>
        <p:txBody>
          <a:bodyPr wrap="square" rtlCol="0" anchor="ctr"/>
          <a:lstStyle/>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Un solo modelo entrenado automaticamente</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Sin una sola regla escrita por humanos</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Supero en comprension de lenguaje</a:t>
            </a:r>
            <a:endParaRPr lang="en-US" sz="1300" dirty="0"/>
          </a:p>
          <a:p>
            <a:pPr marL="342900" indent="-342900">
              <a:spcAft>
                <a:spcPts val="400"/>
              </a:spcAft>
              <a:buSzPct val="100000"/>
              <a:buChar char="•"/>
            </a:pPr>
            <a:r>
              <a:rPr lang="en-US" sz="1300" dirty="0">
                <a:solidFill>
                  <a:srgbClr val="2D3748"/>
                </a:solidFill>
                <a:latin typeface="Calibri" pitchFamily="34" charset="0"/>
                <a:ea typeface="Calibri" pitchFamily="34" charset="-122"/>
                <a:cs typeface="Calibri" pitchFamily="34" charset="-120"/>
              </a:rPr>
              <a:t>Generativo y versatil</a:t>
            </a:r>
            <a:endParaRPr lang="en-US" sz="1300" dirty="0"/>
          </a:p>
        </p:txBody>
      </p:sp>
      <p:sp>
        <p:nvSpPr>
          <p:cNvPr id="13" name="Text 11"/>
          <p:cNvSpPr/>
          <p:nvPr/>
        </p:nvSpPr>
        <p:spPr>
          <a:xfrm>
            <a:off x="548640" y="4114800"/>
            <a:ext cx="8046720" cy="320040"/>
          </a:xfrm>
          <a:prstGeom prst="rect">
            <a:avLst/>
          </a:prstGeom>
          <a:noFill/>
          <a:ln/>
        </p:spPr>
        <p:txBody>
          <a:bodyPr wrap="square" rtlCol="0" anchor="ctr"/>
          <a:lstStyle/>
          <a:p>
            <a:pPr indent="0" marL="0">
              <a:buNone/>
            </a:pPr>
            <a:r>
              <a:rPr lang="en-US" sz="1500" i="1" dirty="0">
                <a:solidFill>
                  <a:srgbClr val="4A90D9"/>
                </a:solidFill>
                <a:latin typeface="Calibri" pitchFamily="34" charset="0"/>
                <a:ea typeface="Calibri" pitchFamily="34" charset="-122"/>
                <a:cs typeface="Calibri" pitchFamily="34" charset="-120"/>
              </a:rPr>
              <a:t>¿Que cambio? ¿Como pasamos de codificar reglas a mano a sistemas que aprenden solos?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Hoja de Ruta</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5 bloques que cubriremos hoy</a:t>
            </a:r>
            <a:endParaRPr lang="en-US" sz="1400" dirty="0"/>
          </a:p>
        </p:txBody>
      </p:sp>
      <p:sp>
        <p:nvSpPr>
          <p:cNvPr id="5" name="Shape 3"/>
          <p:cNvSpPr/>
          <p:nvPr/>
        </p:nvSpPr>
        <p:spPr>
          <a:xfrm>
            <a:off x="548640" y="118872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658368"/>
          </a:xfrm>
          <a:prstGeom prst="rect">
            <a:avLst/>
          </a:prstGeom>
          <a:solidFill>
            <a:srgbClr val="2E75B6"/>
          </a:solidFill>
          <a:ln/>
        </p:spPr>
      </p:sp>
      <p:pic>
        <p:nvPicPr>
          <p:cNvPr id="7" name="Image 0" descr="preencoded.png">    </p:cNvPr>
          <p:cNvPicPr>
            <a:picLocks noChangeAspect="1"/>
          </p:cNvPicPr>
          <p:nvPr/>
        </p:nvPicPr>
        <p:blipFill>
          <a:blip r:embed="rId1"/>
          <a:stretch>
            <a:fillRect/>
          </a:stretch>
        </p:blipFill>
        <p:spPr>
          <a:xfrm>
            <a:off x="777240" y="1307592"/>
            <a:ext cx="411480" cy="411480"/>
          </a:xfrm>
          <a:prstGeom prst="rect">
            <a:avLst/>
          </a:prstGeom>
        </p:spPr>
      </p:pic>
      <p:sp>
        <p:nvSpPr>
          <p:cNvPr id="8" name="Text 5"/>
          <p:cNvSpPr/>
          <p:nvPr/>
        </p:nvSpPr>
        <p:spPr>
          <a:xfrm>
            <a:off x="1371600" y="1261872"/>
            <a:ext cx="365760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1. Evolucion de la IA</a:t>
            </a:r>
            <a:endParaRPr lang="en-US" sz="1600" dirty="0"/>
          </a:p>
        </p:txBody>
      </p:sp>
      <p:sp>
        <p:nvSpPr>
          <p:cNvPr id="9" name="Text 6"/>
          <p:cNvSpPr/>
          <p:nvPr/>
        </p:nvSpPr>
        <p:spPr>
          <a:xfrm>
            <a:off x="1371600" y="1536192"/>
            <a:ext cx="68580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De Dartmouth (1956) a los Transformers (2017)</a:t>
            </a:r>
            <a:endParaRPr lang="en-US" sz="1200" dirty="0"/>
          </a:p>
        </p:txBody>
      </p:sp>
      <p:sp>
        <p:nvSpPr>
          <p:cNvPr id="10" name="Shape 7"/>
          <p:cNvSpPr/>
          <p:nvPr/>
        </p:nvSpPr>
        <p:spPr>
          <a:xfrm>
            <a:off x="548640" y="1938528"/>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8"/>
          <p:cNvSpPr/>
          <p:nvPr/>
        </p:nvSpPr>
        <p:spPr>
          <a:xfrm>
            <a:off x="548640" y="1938528"/>
            <a:ext cx="54864" cy="658368"/>
          </a:xfrm>
          <a:prstGeom prst="rect">
            <a:avLst/>
          </a:prstGeom>
          <a:solidFill>
            <a:srgbClr val="48BB78"/>
          </a:solidFill>
          <a:ln/>
        </p:spPr>
      </p:sp>
      <p:pic>
        <p:nvPicPr>
          <p:cNvPr id="12" name="Image 1" descr="preencoded.png">    </p:cNvPr>
          <p:cNvPicPr>
            <a:picLocks noChangeAspect="1"/>
          </p:cNvPicPr>
          <p:nvPr/>
        </p:nvPicPr>
        <p:blipFill>
          <a:blip r:embed="rId2"/>
          <a:stretch>
            <a:fillRect/>
          </a:stretch>
        </p:blipFill>
        <p:spPr>
          <a:xfrm>
            <a:off x="777240" y="2057400"/>
            <a:ext cx="411480" cy="411480"/>
          </a:xfrm>
          <a:prstGeom prst="rect">
            <a:avLst/>
          </a:prstGeom>
        </p:spPr>
      </p:pic>
      <p:sp>
        <p:nvSpPr>
          <p:cNvPr id="13" name="Text 9"/>
          <p:cNvSpPr/>
          <p:nvPr/>
        </p:nvSpPr>
        <p:spPr>
          <a:xfrm>
            <a:off x="1371600" y="2011680"/>
            <a:ext cx="365760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2. Clasificacion y Regresion</a:t>
            </a:r>
            <a:endParaRPr lang="en-US" sz="1600" dirty="0"/>
          </a:p>
        </p:txBody>
      </p:sp>
      <p:sp>
        <p:nvSpPr>
          <p:cNvPr id="14" name="Text 10"/>
          <p:cNvSpPr/>
          <p:nvPr/>
        </p:nvSpPr>
        <p:spPr>
          <a:xfrm>
            <a:off x="1371600" y="2286000"/>
            <a:ext cx="68580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Los dos tipos fundamentales de problemas en ML</a:t>
            </a:r>
            <a:endParaRPr lang="en-US" sz="1200" dirty="0"/>
          </a:p>
        </p:txBody>
      </p:sp>
      <p:sp>
        <p:nvSpPr>
          <p:cNvPr id="15" name="Shape 11"/>
          <p:cNvSpPr/>
          <p:nvPr/>
        </p:nvSpPr>
        <p:spPr>
          <a:xfrm>
            <a:off x="548640" y="2688336"/>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2"/>
          <p:cNvSpPr/>
          <p:nvPr/>
        </p:nvSpPr>
        <p:spPr>
          <a:xfrm>
            <a:off x="548640" y="2688336"/>
            <a:ext cx="54864" cy="658368"/>
          </a:xfrm>
          <a:prstGeom prst="rect">
            <a:avLst/>
          </a:prstGeom>
          <a:solidFill>
            <a:srgbClr val="9F7AEA"/>
          </a:solidFill>
          <a:ln/>
        </p:spPr>
      </p:sp>
      <p:pic>
        <p:nvPicPr>
          <p:cNvPr id="17" name="Image 2" descr="preencoded.png">    </p:cNvPr>
          <p:cNvPicPr>
            <a:picLocks noChangeAspect="1"/>
          </p:cNvPicPr>
          <p:nvPr/>
        </p:nvPicPr>
        <p:blipFill>
          <a:blip r:embed="rId3"/>
          <a:stretch>
            <a:fillRect/>
          </a:stretch>
        </p:blipFill>
        <p:spPr>
          <a:xfrm>
            <a:off x="777240" y="2807208"/>
            <a:ext cx="411480" cy="411480"/>
          </a:xfrm>
          <a:prstGeom prst="rect">
            <a:avLst/>
          </a:prstGeom>
        </p:spPr>
      </p:pic>
      <p:sp>
        <p:nvSpPr>
          <p:cNvPr id="18" name="Text 13"/>
          <p:cNvSpPr/>
          <p:nvPr/>
        </p:nvSpPr>
        <p:spPr>
          <a:xfrm>
            <a:off x="1371600" y="2761488"/>
            <a:ext cx="365760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3. Discriminativo vs Generativo</a:t>
            </a:r>
            <a:endParaRPr lang="en-US" sz="1600" dirty="0"/>
          </a:p>
        </p:txBody>
      </p:sp>
      <p:sp>
        <p:nvSpPr>
          <p:cNvPr id="19" name="Text 14"/>
          <p:cNvSpPr/>
          <p:nvPr/>
        </p:nvSpPr>
        <p:spPr>
          <a:xfrm>
            <a:off x="1371600" y="3035808"/>
            <a:ext cx="68580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P(Y|X) vs P(X,Y) — la distincion clave</a:t>
            </a:r>
            <a:endParaRPr lang="en-US" sz="1200" dirty="0"/>
          </a:p>
        </p:txBody>
      </p:sp>
      <p:sp>
        <p:nvSpPr>
          <p:cNvPr id="20" name="Shape 15"/>
          <p:cNvSpPr/>
          <p:nvPr/>
        </p:nvSpPr>
        <p:spPr>
          <a:xfrm>
            <a:off x="548640" y="3438144"/>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6"/>
          <p:cNvSpPr/>
          <p:nvPr/>
        </p:nvSpPr>
        <p:spPr>
          <a:xfrm>
            <a:off x="548640" y="3438144"/>
            <a:ext cx="54864" cy="658368"/>
          </a:xfrm>
          <a:prstGeom prst="rect">
            <a:avLst/>
          </a:prstGeom>
          <a:solidFill>
            <a:srgbClr val="ED8936"/>
          </a:solidFill>
          <a:ln/>
        </p:spPr>
      </p:sp>
      <p:pic>
        <p:nvPicPr>
          <p:cNvPr id="22" name="Image 3" descr="preencoded.png">    </p:cNvPr>
          <p:cNvPicPr>
            <a:picLocks noChangeAspect="1"/>
          </p:cNvPicPr>
          <p:nvPr/>
        </p:nvPicPr>
        <p:blipFill>
          <a:blip r:embed="rId4"/>
          <a:stretch>
            <a:fillRect/>
          </a:stretch>
        </p:blipFill>
        <p:spPr>
          <a:xfrm>
            <a:off x="777240" y="3557016"/>
            <a:ext cx="411480" cy="411480"/>
          </a:xfrm>
          <a:prstGeom prst="rect">
            <a:avLst/>
          </a:prstGeom>
        </p:spPr>
      </p:pic>
      <p:sp>
        <p:nvSpPr>
          <p:cNvPr id="23" name="Text 17"/>
          <p:cNvSpPr/>
          <p:nvPr/>
        </p:nvSpPr>
        <p:spPr>
          <a:xfrm>
            <a:off x="1371600" y="3511296"/>
            <a:ext cx="365760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4. Redes Neuronales a LLMs</a:t>
            </a:r>
            <a:endParaRPr lang="en-US" sz="1600" dirty="0"/>
          </a:p>
        </p:txBody>
      </p:sp>
      <p:sp>
        <p:nvSpPr>
          <p:cNvPr id="24" name="Text 18"/>
          <p:cNvSpPr/>
          <p:nvPr/>
        </p:nvSpPr>
        <p:spPr>
          <a:xfrm>
            <a:off x="1371600" y="3785616"/>
            <a:ext cx="68580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Perceptron, XOR, CNNs, RNNs y Transformers</a:t>
            </a:r>
            <a:endParaRPr lang="en-US" sz="1200" dirty="0"/>
          </a:p>
        </p:txBody>
      </p:sp>
      <p:sp>
        <p:nvSpPr>
          <p:cNvPr id="25" name="Shape 19"/>
          <p:cNvSpPr/>
          <p:nvPr/>
        </p:nvSpPr>
        <p:spPr>
          <a:xfrm>
            <a:off x="548640" y="4187952"/>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6" name="Shape 20"/>
          <p:cNvSpPr/>
          <p:nvPr/>
        </p:nvSpPr>
        <p:spPr>
          <a:xfrm>
            <a:off x="548640" y="4187952"/>
            <a:ext cx="54864" cy="658368"/>
          </a:xfrm>
          <a:prstGeom prst="rect">
            <a:avLst/>
          </a:prstGeom>
          <a:solidFill>
            <a:srgbClr val="F6AD55"/>
          </a:solidFill>
          <a:ln/>
        </p:spPr>
      </p:sp>
      <p:pic>
        <p:nvPicPr>
          <p:cNvPr id="27" name="Image 4" descr="preencoded.png">    </p:cNvPr>
          <p:cNvPicPr>
            <a:picLocks noChangeAspect="1"/>
          </p:cNvPicPr>
          <p:nvPr/>
        </p:nvPicPr>
        <p:blipFill>
          <a:blip r:embed="rId5"/>
          <a:stretch>
            <a:fillRect/>
          </a:stretch>
        </p:blipFill>
        <p:spPr>
          <a:xfrm>
            <a:off x="777240" y="4306824"/>
            <a:ext cx="411480" cy="411480"/>
          </a:xfrm>
          <a:prstGeom prst="rect">
            <a:avLst/>
          </a:prstGeom>
        </p:spPr>
      </p:pic>
      <p:sp>
        <p:nvSpPr>
          <p:cNvPr id="28" name="Text 21"/>
          <p:cNvSpPr/>
          <p:nvPr/>
        </p:nvSpPr>
        <p:spPr>
          <a:xfrm>
            <a:off x="1371600" y="4261104"/>
            <a:ext cx="365760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5. ¿Cuando Usar Cada Enfoque?</a:t>
            </a:r>
            <a:endParaRPr lang="en-US" sz="1600" dirty="0"/>
          </a:p>
        </p:txBody>
      </p:sp>
      <p:sp>
        <p:nvSpPr>
          <p:cNvPr id="29" name="Text 22"/>
          <p:cNvSpPr/>
          <p:nvPr/>
        </p:nvSpPr>
        <p:spPr>
          <a:xfrm>
            <a:off x="1371600" y="4535424"/>
            <a:ext cx="68580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Clasico vs Deep Learning vs Generativo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El Taller de Dartmouth (1956)</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Concepto 1 — Los origenes de la Inteligencia Artificial</a:t>
            </a:r>
            <a:endParaRPr lang="en-US" sz="1400" dirty="0"/>
          </a:p>
        </p:txBody>
      </p:sp>
      <p:sp>
        <p:nvSpPr>
          <p:cNvPr id="5" name="Shape 3"/>
          <p:cNvSpPr/>
          <p:nvPr/>
        </p:nvSpPr>
        <p:spPr>
          <a:xfrm>
            <a:off x="548640" y="1188720"/>
            <a:ext cx="502920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463040"/>
          </a:xfrm>
          <a:prstGeom prst="rect">
            <a:avLst/>
          </a:prstGeom>
          <a:solidFill>
            <a:srgbClr val="2E75B6"/>
          </a:solidFill>
          <a:ln/>
        </p:spPr>
      </p:sp>
      <p:sp>
        <p:nvSpPr>
          <p:cNvPr id="7" name="Text 5"/>
          <p:cNvSpPr/>
          <p:nvPr/>
        </p:nvSpPr>
        <p:spPr>
          <a:xfrm>
            <a:off x="777240" y="1280160"/>
            <a:ext cx="4572000" cy="1188720"/>
          </a:xfrm>
          <a:prstGeom prst="rect">
            <a:avLst/>
          </a:prstGeom>
          <a:noFill/>
          <a:ln/>
        </p:spPr>
        <p:txBody>
          <a:bodyPr wrap="square" rtlCol="0" anchor="ctr"/>
          <a:lstStyle/>
          <a:p>
            <a:pPr indent="0" marL="0">
              <a:buNone/>
            </a:pPr>
            <a:r>
              <a:rPr lang="en-US" sz="1300" i="1" dirty="0">
                <a:solidFill>
                  <a:srgbClr val="2D3748"/>
                </a:solidFill>
                <a:latin typeface="Georgia" pitchFamily="34" charset="0"/>
                <a:ea typeface="Georgia" pitchFamily="34" charset="-122"/>
                <a:cs typeface="Georgia" pitchFamily="34" charset="-120"/>
              </a:rPr>
              <a:t>"Cada aspecto del aprendizaje o cualquier otra caracteristica de la inteligencia puede, en principio, ser descrito con tanta precision que una maquina puede simularlo."</a:t>
            </a:r>
            <a:endParaRPr lang="en-US" sz="1300" dirty="0"/>
          </a:p>
        </p:txBody>
      </p:sp>
      <p:sp>
        <p:nvSpPr>
          <p:cNvPr id="8" name="Text 6"/>
          <p:cNvSpPr/>
          <p:nvPr/>
        </p:nvSpPr>
        <p:spPr>
          <a:xfrm>
            <a:off x="777240" y="2423160"/>
            <a:ext cx="4572000" cy="27432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 Propuesta del Taller de Dartmouth, 1956</a:t>
            </a:r>
            <a:endParaRPr lang="en-US" sz="1100" dirty="0"/>
          </a:p>
        </p:txBody>
      </p:sp>
      <p:sp>
        <p:nvSpPr>
          <p:cNvPr id="9" name="Shape 7"/>
          <p:cNvSpPr/>
          <p:nvPr/>
        </p:nvSpPr>
        <p:spPr>
          <a:xfrm>
            <a:off x="5943600" y="1188720"/>
            <a:ext cx="274320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943600" y="1188720"/>
            <a:ext cx="2743200" cy="54864"/>
          </a:xfrm>
          <a:prstGeom prst="rect">
            <a:avLst/>
          </a:prstGeom>
          <a:solidFill>
            <a:srgbClr val="F6AD55"/>
          </a:solidFill>
          <a:ln/>
        </p:spPr>
      </p:sp>
      <p:sp>
        <p:nvSpPr>
          <p:cNvPr id="11" name="Text 9"/>
          <p:cNvSpPr/>
          <p:nvPr/>
        </p:nvSpPr>
        <p:spPr>
          <a:xfrm>
            <a:off x="6126480" y="1371600"/>
            <a:ext cx="237744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Ideas Clave</a:t>
            </a:r>
            <a:endParaRPr lang="en-US" sz="1400" dirty="0"/>
          </a:p>
        </p:txBody>
      </p:sp>
      <p:sp>
        <p:nvSpPr>
          <p:cNvPr id="12" name="Text 10"/>
          <p:cNvSpPr/>
          <p:nvPr/>
        </p:nvSpPr>
        <p:spPr>
          <a:xfrm>
            <a:off x="6126480" y="1691640"/>
            <a:ext cx="2377440" cy="822960"/>
          </a:xfrm>
          <a:prstGeom prst="rect">
            <a:avLst/>
          </a:prstGeom>
          <a:noFill/>
          <a:ln/>
        </p:spPr>
        <p:txBody>
          <a:bodyPr wrap="square" rtlCol="0" anchor="ctr"/>
          <a:lstStyle/>
          <a:p>
            <a:pPr marL="342900" indent="-342900">
              <a:spcAft>
                <a:spcPts val="300"/>
              </a:spcAft>
              <a:buSzPct val="100000"/>
              <a:buChar char="•"/>
            </a:pPr>
            <a:r>
              <a:rPr lang="en-US" sz="1200" dirty="0">
                <a:solidFill>
                  <a:srgbClr val="2D3748"/>
                </a:solidFill>
                <a:latin typeface="Calibri" pitchFamily="34" charset="0"/>
                <a:ea typeface="Calibri" pitchFamily="34" charset="-122"/>
                <a:cs typeface="Calibri" pitchFamily="34" charset="-120"/>
              </a:rPr>
              <a:t>Entrenamiento + Inferencia</a:t>
            </a:r>
            <a:endParaRPr lang="en-US" sz="1200" dirty="0"/>
          </a:p>
          <a:p>
            <a:pPr marL="342900" indent="-342900">
              <a:spcAft>
                <a:spcPts val="300"/>
              </a:spcAft>
              <a:buSzPct val="100000"/>
              <a:buChar char="•"/>
            </a:pPr>
            <a:r>
              <a:rPr lang="en-US" sz="1200" dirty="0">
                <a:solidFill>
                  <a:srgbClr val="2D3748"/>
                </a:solidFill>
                <a:latin typeface="Calibri" pitchFamily="34" charset="0"/>
                <a:ea typeface="Calibri" pitchFamily="34" charset="-122"/>
                <a:cs typeface="Calibri" pitchFamily="34" charset="-120"/>
              </a:rPr>
              <a:t>Aprender sin programar</a:t>
            </a:r>
            <a:endParaRPr lang="en-US" sz="1200" dirty="0"/>
          </a:p>
          <a:p>
            <a:pPr marL="342900" indent="-342900">
              <a:spcAft>
                <a:spcPts val="300"/>
              </a:spcAft>
              <a:buSzPct val="100000"/>
              <a:buChar char="•"/>
            </a:pPr>
            <a:r>
              <a:rPr lang="en-US" sz="1200" dirty="0">
                <a:solidFill>
                  <a:srgbClr val="2D3748"/>
                </a:solidFill>
                <a:latin typeface="Calibri" pitchFamily="34" charset="0"/>
                <a:ea typeface="Calibri" pitchFamily="34" charset="-122"/>
                <a:cs typeface="Calibri" pitchFamily="34" charset="-120"/>
              </a:rPr>
              <a:t>Lenguaje, vision, razon.</a:t>
            </a:r>
            <a:endParaRPr lang="en-US" sz="1200" dirty="0"/>
          </a:p>
        </p:txBody>
      </p:sp>
      <p:sp>
        <p:nvSpPr>
          <p:cNvPr id="13" name="Shape 11"/>
          <p:cNvSpPr/>
          <p:nvPr/>
        </p:nvSpPr>
        <p:spPr>
          <a:xfrm>
            <a:off x="548640" y="2926080"/>
            <a:ext cx="804672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548640" y="2926080"/>
            <a:ext cx="8046720" cy="54864"/>
          </a:xfrm>
          <a:prstGeom prst="rect">
            <a:avLst/>
          </a:prstGeom>
          <a:solidFill>
            <a:srgbClr val="003366"/>
          </a:solidFill>
          <a:ln/>
        </p:spPr>
      </p:sp>
      <p:sp>
        <p:nvSpPr>
          <p:cNvPr id="15" name="Text 13"/>
          <p:cNvSpPr/>
          <p:nvPr/>
        </p:nvSpPr>
        <p:spPr>
          <a:xfrm>
            <a:off x="731520" y="3108960"/>
            <a:ext cx="768096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Era 1: Sistemas Expertos (1960s–1980s)</a:t>
            </a:r>
            <a:endParaRPr lang="en-US" sz="1600" dirty="0"/>
          </a:p>
        </p:txBody>
      </p:sp>
      <p:sp>
        <p:nvSpPr>
          <p:cNvPr id="16" name="Text 14"/>
          <p:cNvSpPr/>
          <p:nvPr/>
        </p:nvSpPr>
        <p:spPr>
          <a:xfrm>
            <a:off x="731520" y="3474720"/>
            <a:ext cx="768096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Codificaban conocimiento humano como reglas logicas: IF fiebre AND tos AND radiografia_anormal THEN neumonia</a:t>
            </a:r>
            <a:endParaRPr lang="en-US" sz="1300" dirty="0"/>
          </a:p>
        </p:txBody>
      </p:sp>
      <p:sp>
        <p:nvSpPr>
          <p:cNvPr id="17" name="Text 15"/>
          <p:cNvSpPr/>
          <p:nvPr/>
        </p:nvSpPr>
        <p:spPr>
          <a:xfrm>
            <a:off x="731520" y="3931920"/>
            <a:ext cx="3657600" cy="274320"/>
          </a:xfrm>
          <a:prstGeom prst="rect">
            <a:avLst/>
          </a:prstGeom>
          <a:noFill/>
          <a:ln/>
        </p:spPr>
        <p:txBody>
          <a:bodyPr wrap="square" lIns="0" tIns="0" rIns="0" bIns="0" rtlCol="0" anchor="ctr"/>
          <a:lstStyle/>
          <a:p>
            <a:pPr indent="0" marL="0">
              <a:buNone/>
            </a:pPr>
            <a:r>
              <a:rPr lang="en-US" sz="1200" b="1" dirty="0">
                <a:solidFill>
                  <a:srgbClr val="48BB78"/>
                </a:solidFill>
                <a:latin typeface="Calibri" pitchFamily="34" charset="0"/>
                <a:ea typeface="Calibri" pitchFamily="34" charset="-122"/>
                <a:cs typeface="Calibri" pitchFamily="34" charset="-120"/>
              </a:rPr>
              <a:t>Ventajas: </a:t>
            </a:r>
            <a:pPr indent="0" marL="0">
              <a:buNone/>
            </a:pPr>
            <a:r>
              <a:rPr lang="en-US" sz="1200" dirty="0">
                <a:solidFill>
                  <a:srgbClr val="48BB78"/>
                </a:solidFill>
                <a:latin typeface="Calibri" pitchFamily="34" charset="0"/>
                <a:ea typeface="Calibri" pitchFamily="34" charset="-122"/>
                <a:cs typeface="Calibri" pitchFamily="34" charset="-120"/>
              </a:rPr>
              <a:t>Transparentes, auditables, funcionan en dominios con reglas claras</a:t>
            </a:r>
            <a:endParaRPr lang="en-US" sz="1200" dirty="0"/>
          </a:p>
        </p:txBody>
      </p:sp>
      <p:sp>
        <p:nvSpPr>
          <p:cNvPr id="18" name="Text 16"/>
          <p:cNvSpPr/>
          <p:nvPr/>
        </p:nvSpPr>
        <p:spPr>
          <a:xfrm>
            <a:off x="4572000" y="3931920"/>
            <a:ext cx="4023360" cy="274320"/>
          </a:xfrm>
          <a:prstGeom prst="rect">
            <a:avLst/>
          </a:prstGeom>
          <a:noFill/>
          <a:ln/>
        </p:spPr>
        <p:txBody>
          <a:bodyPr wrap="square" lIns="0" tIns="0" rIns="0" bIns="0" rtlCol="0" anchor="ctr"/>
          <a:lstStyle/>
          <a:p>
            <a:pPr indent="0" marL="0">
              <a:buNone/>
            </a:pPr>
            <a:r>
              <a:rPr lang="en-US" sz="1200" b="1" dirty="0">
                <a:solidFill>
                  <a:srgbClr val="FC8181"/>
                </a:solidFill>
                <a:latin typeface="Calibri" pitchFamily="34" charset="0"/>
                <a:ea typeface="Calibri" pitchFamily="34" charset="-122"/>
                <a:cs typeface="Calibri" pitchFamily="34" charset="-120"/>
              </a:rPr>
              <a:t>Problemas: </a:t>
            </a:r>
            <a:pPr indent="0" marL="0">
              <a:buNone/>
            </a:pPr>
            <a:r>
              <a:rPr lang="en-US" sz="1200" dirty="0">
                <a:solidFill>
                  <a:srgbClr val="FC8181"/>
                </a:solidFill>
                <a:latin typeface="Calibri" pitchFamily="34" charset="0"/>
                <a:ea typeface="Calibri" pitchFamily="34" charset="-122"/>
                <a:cs typeface="Calibri" pitchFamily="34" charset="-120"/>
              </a:rPr>
              <a:t>Requieren experto, no se adaptan, reglas crecen exponencialmente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¿Por que crees que los sistemas expertos fracasaron en problemas complejos como reconocimiento de imagenes?</a:t>
            </a:r>
            <a:endParaRPr lang="en-US" sz="1800" dirty="0"/>
          </a:p>
        </p:txBody>
      </p:sp>
      <p:sp>
        <p:nvSpPr>
          <p:cNvPr id="5" name="Text 2"/>
          <p:cNvSpPr/>
          <p:nvPr/>
        </p:nvSpPr>
        <p:spPr>
          <a:xfrm>
            <a:off x="1371600" y="3108960"/>
            <a:ext cx="6400800" cy="54864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¿Podrias escribir reglas explicitas para distinguir un gato de un perro?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Era 2: Aprendizaje Automatico Clasico</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1990s–2010s — En lugar de escribir reglas, ensena al sistema a descubrirlas</a:t>
            </a:r>
            <a:endParaRPr lang="en-US" sz="1400" dirty="0"/>
          </a:p>
        </p:txBody>
      </p:sp>
      <p:sp>
        <p:nvSpPr>
          <p:cNvPr id="5" name="Shape 3"/>
          <p:cNvSpPr/>
          <p:nvPr/>
        </p:nvSpPr>
        <p:spPr>
          <a:xfrm>
            <a:off x="548640" y="1188720"/>
            <a:ext cx="80467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371600"/>
          </a:xfrm>
          <a:prstGeom prst="rect">
            <a:avLst/>
          </a:prstGeom>
          <a:solidFill>
            <a:srgbClr val="48BB78"/>
          </a:solidFill>
          <a:ln/>
        </p:spPr>
      </p:sp>
      <p:sp>
        <p:nvSpPr>
          <p:cNvPr id="7" name="Text 5"/>
          <p:cNvSpPr/>
          <p:nvPr/>
        </p:nvSpPr>
        <p:spPr>
          <a:xfrm>
            <a:off x="777240" y="1280160"/>
            <a:ext cx="758952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El gran salto</a:t>
            </a:r>
            <a:endParaRPr lang="en-US" sz="1600" dirty="0"/>
          </a:p>
        </p:txBody>
      </p:sp>
      <p:sp>
        <p:nvSpPr>
          <p:cNvPr id="8" name="Text 6"/>
          <p:cNvSpPr/>
          <p:nvPr/>
        </p:nvSpPr>
        <p:spPr>
          <a:xfrm>
            <a:off x="777240" y="1645920"/>
            <a:ext cx="7589520" cy="7315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En lugar de escribir reglas, tienes 1,000 fotos de gatos y 1,000 de perros. Un algoritmo examina automaticamente las imagenes y descubre patrones: orejas triangulares → gato, orejas redondeadas → perro.</a:t>
            </a:r>
            <a:endParaRPr lang="en-US" sz="1300" dirty="0"/>
          </a:p>
        </p:txBody>
      </p:sp>
      <p:sp>
        <p:nvSpPr>
          <p:cNvPr id="9" name="Shape 7"/>
          <p:cNvSpPr/>
          <p:nvPr/>
        </p:nvSpPr>
        <p:spPr>
          <a:xfrm>
            <a:off x="548640" y="283464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2834640"/>
            <a:ext cx="3840480" cy="54864"/>
          </a:xfrm>
          <a:prstGeom prst="rect">
            <a:avLst/>
          </a:prstGeom>
          <a:solidFill>
            <a:srgbClr val="2E75B6"/>
          </a:solidFill>
          <a:ln/>
        </p:spPr>
      </p:sp>
      <p:sp>
        <p:nvSpPr>
          <p:cNvPr id="11" name="Text 9"/>
          <p:cNvSpPr/>
          <p:nvPr/>
        </p:nvSpPr>
        <p:spPr>
          <a:xfrm>
            <a:off x="731520" y="2971800"/>
            <a:ext cx="3474720" cy="32004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Base Estadistica</a:t>
            </a:r>
            <a:endParaRPr lang="en-US" sz="1500" dirty="0"/>
          </a:p>
        </p:txBody>
      </p:sp>
      <p:sp>
        <p:nvSpPr>
          <p:cNvPr id="12" name="Text 10"/>
          <p:cNvSpPr/>
          <p:nvPr/>
        </p:nvSpPr>
        <p:spPr>
          <a:xfrm>
            <a:off x="731520" y="3383280"/>
            <a:ext cx="3474720" cy="1280160"/>
          </a:xfrm>
          <a:prstGeom prst="rect">
            <a:avLst/>
          </a:prstGeom>
          <a:noFill/>
          <a:ln/>
        </p:spPr>
        <p:txBody>
          <a:bodyPr wrap="square"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Aprender una distribucion de probabilidad</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Estimar P(Y|X): dado X, ¿cual es la probabilidad de Y?</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Medir generalizacion a datos no vistos</a:t>
            </a:r>
            <a:endParaRPr lang="en-US" sz="1200" dirty="0"/>
          </a:p>
        </p:txBody>
      </p:sp>
      <p:sp>
        <p:nvSpPr>
          <p:cNvPr id="13" name="Shape 11"/>
          <p:cNvSpPr/>
          <p:nvPr/>
        </p:nvSpPr>
        <p:spPr>
          <a:xfrm>
            <a:off x="4754880" y="2834640"/>
            <a:ext cx="384048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4754880" y="2834640"/>
            <a:ext cx="3840480" cy="54864"/>
          </a:xfrm>
          <a:prstGeom prst="rect">
            <a:avLst/>
          </a:prstGeom>
          <a:solidFill>
            <a:srgbClr val="9F7AEA"/>
          </a:solidFill>
          <a:ln/>
        </p:spPr>
      </p:sp>
      <p:sp>
        <p:nvSpPr>
          <p:cNvPr id="15" name="Text 13"/>
          <p:cNvSpPr/>
          <p:nvPr/>
        </p:nvSpPr>
        <p:spPr>
          <a:xfrm>
            <a:off x="4937760" y="2971800"/>
            <a:ext cx="3474720" cy="32004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Paradigmas de Aprendizaje</a:t>
            </a:r>
            <a:endParaRPr lang="en-US" sz="1500" dirty="0"/>
          </a:p>
        </p:txBody>
      </p:sp>
      <p:sp>
        <p:nvSpPr>
          <p:cNvPr id="16" name="Text 14"/>
          <p:cNvSpPr/>
          <p:nvPr/>
        </p:nvSpPr>
        <p:spPr>
          <a:xfrm>
            <a:off x="4937760" y="3383280"/>
            <a:ext cx="3474720" cy="1280160"/>
          </a:xfrm>
          <a:prstGeom prst="rect">
            <a:avLst/>
          </a:prstGeom>
          <a:noFill/>
          <a:ln/>
        </p:spPr>
        <p:txBody>
          <a:bodyPr wrap="square" rtlCol="0" anchor="ctr"/>
          <a:lstStyle/>
          <a:p>
            <a:pPr indent="0" marL="0">
              <a:spcAft>
                <a:spcPts val="600"/>
              </a:spcAft>
              <a:buNone/>
            </a:pPr>
            <a:r>
              <a:rPr lang="en-US" sz="1200" b="1" dirty="0">
                <a:solidFill>
                  <a:srgbClr val="2D3748"/>
                </a:solidFill>
                <a:latin typeface="Calibri" pitchFamily="34" charset="0"/>
                <a:ea typeface="Calibri" pitchFamily="34" charset="-122"/>
                <a:cs typeface="Calibri" pitchFamily="34" charset="-120"/>
              </a:rPr>
              <a:t>Supervisado: </a:t>
            </a:r>
            <a:pPr indent="0" marL="0">
              <a:spcAft>
                <a:spcPts val="600"/>
              </a:spcAft>
              <a:buNone/>
            </a:pPr>
            <a:r>
              <a:rPr lang="en-US" sz="1200" dirty="0">
                <a:solidFill>
                  <a:srgbClr val="2D3748"/>
                </a:solidFill>
                <a:latin typeface="Calibri" pitchFamily="34" charset="0"/>
                <a:ea typeface="Calibri" pitchFamily="34" charset="-122"/>
                <a:cs typeface="Calibri" pitchFamily="34" charset="-120"/>
              </a:rPr>
              <a:t>datos con etiquetas</a:t>
            </a:r>
            <a:endParaRPr lang="en-US" sz="1200" dirty="0"/>
          </a:p>
          <a:p>
            <a:pPr indent="0" marL="0">
              <a:spcAft>
                <a:spcPts val="600"/>
              </a:spcAft>
              <a:buNone/>
            </a:pPr>
            <a:r>
              <a:rPr lang="en-US" sz="1200" b="1" dirty="0">
                <a:solidFill>
                  <a:srgbClr val="2D3748"/>
                </a:solidFill>
                <a:latin typeface="Calibri" pitchFamily="34" charset="0"/>
                <a:ea typeface="Calibri" pitchFamily="34" charset="-122"/>
                <a:cs typeface="Calibri" pitchFamily="34" charset="-120"/>
              </a:rPr>
              <a:t>No Supervisado: </a:t>
            </a:r>
            <a:pPr indent="0" marL="0">
              <a:spcAft>
                <a:spcPts val="600"/>
              </a:spcAft>
              <a:buNone/>
            </a:pPr>
            <a:r>
              <a:rPr lang="en-US" sz="1200" dirty="0">
                <a:solidFill>
                  <a:srgbClr val="2D3748"/>
                </a:solidFill>
                <a:latin typeface="Calibri" pitchFamily="34" charset="0"/>
                <a:ea typeface="Calibri" pitchFamily="34" charset="-122"/>
                <a:cs typeface="Calibri" pitchFamily="34" charset="-120"/>
              </a:rPr>
              <a:t>encontrar estructura</a:t>
            </a:r>
            <a:endParaRPr lang="en-US" sz="1200" dirty="0"/>
          </a:p>
          <a:p>
            <a:pPr indent="0" marL="0">
              <a:spcAft>
                <a:spcPts val="600"/>
              </a:spcAft>
              <a:buNone/>
            </a:pPr>
            <a:r>
              <a:rPr lang="en-US" sz="1200" b="1" dirty="0">
                <a:solidFill>
                  <a:srgbClr val="2D3748"/>
                </a:solidFill>
                <a:latin typeface="Calibri" pitchFamily="34" charset="0"/>
                <a:ea typeface="Calibri" pitchFamily="34" charset="-122"/>
                <a:cs typeface="Calibri" pitchFamily="34" charset="-120"/>
              </a:rPr>
              <a:t>Refuerzo: </a:t>
            </a:r>
            <a:pPr indent="0" marL="0">
              <a:spcAft>
                <a:spcPts val="600"/>
              </a:spcAft>
              <a:buNone/>
            </a:pPr>
            <a:r>
              <a:rPr lang="en-US" sz="1200" dirty="0">
                <a:solidFill>
                  <a:srgbClr val="2D3748"/>
                </a:solidFill>
                <a:latin typeface="Calibri" pitchFamily="34" charset="0"/>
                <a:ea typeface="Calibri" pitchFamily="34" charset="-122"/>
                <a:cs typeface="Calibri" pitchFamily="34" charset="-120"/>
              </a:rPr>
              <a:t>aprender de recompensas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Dos Tipos de Problemas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Concepto 2 — Clasificacion y Regresion</a:t>
            </a:r>
            <a:endParaRPr lang="en-US" sz="1400" dirty="0"/>
          </a:p>
        </p:txBody>
      </p:sp>
      <p:sp>
        <p:nvSpPr>
          <p:cNvPr id="5" name="Shape 3"/>
          <p:cNvSpPr/>
          <p:nvPr/>
        </p:nvSpPr>
        <p:spPr>
          <a:xfrm>
            <a:off x="548640" y="1188720"/>
            <a:ext cx="38404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3840480" cy="54864"/>
          </a:xfrm>
          <a:prstGeom prst="rect">
            <a:avLst/>
          </a:prstGeom>
          <a:solidFill>
            <a:srgbClr val="2E75B6"/>
          </a:solidFill>
          <a:ln/>
        </p:spPr>
      </p:sp>
      <p:pic>
        <p:nvPicPr>
          <p:cNvPr id="7" name="Image 0" descr="preencoded.png">    </p:cNvPr>
          <p:cNvPicPr>
            <a:picLocks noChangeAspect="1"/>
          </p:cNvPicPr>
          <p:nvPr/>
        </p:nvPicPr>
        <p:blipFill>
          <a:blip r:embed="rId1"/>
          <a:stretch>
            <a:fillRect/>
          </a:stretch>
        </p:blipFill>
        <p:spPr>
          <a:xfrm>
            <a:off x="777240" y="1371600"/>
            <a:ext cx="365760" cy="365760"/>
          </a:xfrm>
          <a:prstGeom prst="rect">
            <a:avLst/>
          </a:prstGeom>
        </p:spPr>
      </p:pic>
      <p:sp>
        <p:nvSpPr>
          <p:cNvPr id="8" name="Text 5"/>
          <p:cNvSpPr/>
          <p:nvPr/>
        </p:nvSpPr>
        <p:spPr>
          <a:xfrm>
            <a:off x="1280160" y="1371600"/>
            <a:ext cx="2926080" cy="365760"/>
          </a:xfrm>
          <a:prstGeom prst="rect">
            <a:avLst/>
          </a:prstGeom>
          <a:noFill/>
          <a:ln/>
        </p:spPr>
        <p:txBody>
          <a:bodyPr wrap="square" lIns="0" tIns="0" rIns="0" bIns="0" rtlCol="0" anchor="ctr"/>
          <a:lstStyle/>
          <a:p>
            <a:pPr indent="0" marL="0">
              <a:buNone/>
            </a:pPr>
            <a:r>
              <a:rPr lang="en-US" sz="2000" b="1" dirty="0">
                <a:solidFill>
                  <a:srgbClr val="003366"/>
                </a:solidFill>
                <a:latin typeface="Georgia" pitchFamily="34" charset="0"/>
                <a:ea typeface="Georgia" pitchFamily="34" charset="-122"/>
                <a:cs typeface="Georgia" pitchFamily="34" charset="-120"/>
              </a:rPr>
              <a:t>Clasificacion</a:t>
            </a:r>
            <a:endParaRPr lang="en-US" sz="2000" dirty="0"/>
          </a:p>
        </p:txBody>
      </p:sp>
      <p:sp>
        <p:nvSpPr>
          <p:cNvPr id="9" name="Text 6"/>
          <p:cNvSpPr/>
          <p:nvPr/>
        </p:nvSpPr>
        <p:spPr>
          <a:xfrm>
            <a:off x="777240" y="1828800"/>
            <a:ext cx="3383280" cy="27432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Asignar una etiqueta categorica</a:t>
            </a:r>
            <a:endParaRPr lang="en-US" sz="1300" dirty="0"/>
          </a:p>
        </p:txBody>
      </p:sp>
      <p:sp>
        <p:nvSpPr>
          <p:cNvPr id="10" name="Text 7"/>
          <p:cNvSpPr/>
          <p:nvPr/>
        </p:nvSpPr>
        <p:spPr>
          <a:xfrm>
            <a:off x="777240" y="2286000"/>
            <a:ext cx="3383280" cy="1371600"/>
          </a:xfrm>
          <a:prstGeom prst="rect">
            <a:avLst/>
          </a:prstGeom>
          <a:noFill/>
          <a:ln/>
        </p:spPr>
        <p:txBody>
          <a:bodyPr wrap="square" rtlCol="0" anchor="ctr"/>
          <a:lstStyle/>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Imagen → "gato" o "perro"</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Email → "spam" o "no spam"</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Radiografia → "tumor" o "normal"</a:t>
            </a:r>
            <a:endParaRPr lang="en-US" sz="1300" dirty="0"/>
          </a:p>
        </p:txBody>
      </p:sp>
      <p:sp>
        <p:nvSpPr>
          <p:cNvPr id="11" name="Text 8"/>
          <p:cNvSpPr/>
          <p:nvPr/>
        </p:nvSpPr>
        <p:spPr>
          <a:xfrm>
            <a:off x="777240" y="3931920"/>
            <a:ext cx="3383280" cy="274320"/>
          </a:xfrm>
          <a:prstGeom prst="rect">
            <a:avLst/>
          </a:prstGeom>
          <a:noFill/>
          <a:ln/>
        </p:spPr>
        <p:txBody>
          <a:bodyPr wrap="square" lIns="0" tIns="0" rIns="0" bIns="0" rtlCol="0" anchor="ctr"/>
          <a:lstStyle/>
          <a:p>
            <a:pPr indent="0" marL="0">
              <a:buNone/>
            </a:pPr>
            <a:r>
              <a:rPr lang="en-US" sz="1200" b="1" dirty="0">
                <a:solidFill>
                  <a:srgbClr val="2E75B6"/>
                </a:solidFill>
                <a:latin typeface="Calibri" pitchFamily="34" charset="0"/>
                <a:ea typeface="Calibri" pitchFamily="34" charset="-122"/>
                <a:cs typeface="Calibri" pitchFamily="34" charset="-120"/>
              </a:rPr>
              <a:t>Salida: categorias discretas</a:t>
            </a:r>
            <a:endParaRPr lang="en-US" sz="1200" dirty="0"/>
          </a:p>
        </p:txBody>
      </p:sp>
      <p:sp>
        <p:nvSpPr>
          <p:cNvPr id="12" name="Shape 9"/>
          <p:cNvSpPr/>
          <p:nvPr/>
        </p:nvSpPr>
        <p:spPr>
          <a:xfrm>
            <a:off x="4754880" y="1188720"/>
            <a:ext cx="384048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4754880" y="1188720"/>
            <a:ext cx="3840480" cy="54864"/>
          </a:xfrm>
          <a:prstGeom prst="rect">
            <a:avLst/>
          </a:prstGeom>
          <a:solidFill>
            <a:srgbClr val="48BB78"/>
          </a:solidFill>
          <a:ln/>
        </p:spPr>
      </p:sp>
      <p:pic>
        <p:nvPicPr>
          <p:cNvPr id="14" name="Image 1" descr="preencoded.png">    </p:cNvPr>
          <p:cNvPicPr>
            <a:picLocks noChangeAspect="1"/>
          </p:cNvPicPr>
          <p:nvPr/>
        </p:nvPicPr>
        <p:blipFill>
          <a:blip r:embed="rId2"/>
          <a:stretch>
            <a:fillRect/>
          </a:stretch>
        </p:blipFill>
        <p:spPr>
          <a:xfrm>
            <a:off x="4983480" y="1371600"/>
            <a:ext cx="365760" cy="365760"/>
          </a:xfrm>
          <a:prstGeom prst="rect">
            <a:avLst/>
          </a:prstGeom>
        </p:spPr>
      </p:pic>
      <p:sp>
        <p:nvSpPr>
          <p:cNvPr id="15" name="Text 11"/>
          <p:cNvSpPr/>
          <p:nvPr/>
        </p:nvSpPr>
        <p:spPr>
          <a:xfrm>
            <a:off x="5486400" y="1371600"/>
            <a:ext cx="2926080" cy="365760"/>
          </a:xfrm>
          <a:prstGeom prst="rect">
            <a:avLst/>
          </a:prstGeom>
          <a:noFill/>
          <a:ln/>
        </p:spPr>
        <p:txBody>
          <a:bodyPr wrap="square" lIns="0" tIns="0" rIns="0" bIns="0" rtlCol="0" anchor="ctr"/>
          <a:lstStyle/>
          <a:p>
            <a:pPr indent="0" marL="0">
              <a:buNone/>
            </a:pPr>
            <a:r>
              <a:rPr lang="en-US" sz="2000" b="1" dirty="0">
                <a:solidFill>
                  <a:srgbClr val="003366"/>
                </a:solidFill>
                <a:latin typeface="Georgia" pitchFamily="34" charset="0"/>
                <a:ea typeface="Georgia" pitchFamily="34" charset="-122"/>
                <a:cs typeface="Georgia" pitchFamily="34" charset="-120"/>
              </a:rPr>
              <a:t>Regresion</a:t>
            </a:r>
            <a:endParaRPr lang="en-US" sz="2000" dirty="0"/>
          </a:p>
        </p:txBody>
      </p:sp>
      <p:sp>
        <p:nvSpPr>
          <p:cNvPr id="16" name="Text 12"/>
          <p:cNvSpPr/>
          <p:nvPr/>
        </p:nvSpPr>
        <p:spPr>
          <a:xfrm>
            <a:off x="4983480" y="1828800"/>
            <a:ext cx="3383280" cy="274320"/>
          </a:xfrm>
          <a:prstGeom prst="rect">
            <a:avLst/>
          </a:prstGeom>
          <a:noFill/>
          <a:ln/>
        </p:spPr>
        <p:txBody>
          <a:bodyPr wrap="square" lIns="0" tIns="0" rIns="0" bIns="0" rtlCol="0" anchor="ctr"/>
          <a:lstStyle/>
          <a:p>
            <a:pPr indent="0" marL="0">
              <a:buNone/>
            </a:pPr>
            <a:r>
              <a:rPr lang="en-US" sz="1300" i="1" dirty="0">
                <a:solidFill>
                  <a:srgbClr val="718096"/>
                </a:solidFill>
                <a:latin typeface="Calibri" pitchFamily="34" charset="0"/>
                <a:ea typeface="Calibri" pitchFamily="34" charset="-122"/>
                <a:cs typeface="Calibri" pitchFamily="34" charset="-120"/>
              </a:rPr>
              <a:t>Predecir un valor numerico continuo</a:t>
            </a:r>
            <a:endParaRPr lang="en-US" sz="1300" dirty="0"/>
          </a:p>
        </p:txBody>
      </p:sp>
      <p:sp>
        <p:nvSpPr>
          <p:cNvPr id="17" name="Text 13"/>
          <p:cNvSpPr/>
          <p:nvPr/>
        </p:nvSpPr>
        <p:spPr>
          <a:xfrm>
            <a:off x="4983480" y="2286000"/>
            <a:ext cx="3383280" cy="1371600"/>
          </a:xfrm>
          <a:prstGeom prst="rect">
            <a:avLst/>
          </a:prstGeom>
          <a:noFill/>
          <a:ln/>
        </p:spPr>
        <p:txBody>
          <a:bodyPr wrap="square" rtlCol="0" anchor="ctr"/>
          <a:lstStyle/>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Casa (m², ubic.) → Precio $</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Historico ventas → Proximo mes</a:t>
            </a:r>
            <a:endParaRPr lang="en-US" sz="1300" dirty="0"/>
          </a:p>
          <a:p>
            <a:pPr marL="342900" indent="-342900">
              <a:spcAft>
                <a:spcPts val="800"/>
              </a:spcAft>
              <a:buSzPct val="100000"/>
              <a:buChar char="•"/>
            </a:pPr>
            <a:r>
              <a:rPr lang="en-US" sz="1300" dirty="0">
                <a:solidFill>
                  <a:srgbClr val="2D3748"/>
                </a:solidFill>
                <a:latin typeface="Calibri" pitchFamily="34" charset="0"/>
                <a:ea typeface="Calibri" pitchFamily="34" charset="-122"/>
                <a:cs typeface="Calibri" pitchFamily="34" charset="-120"/>
              </a:rPr>
              <a:t>Temperatura → Consumo energia</a:t>
            </a:r>
            <a:endParaRPr lang="en-US" sz="1300" dirty="0"/>
          </a:p>
        </p:txBody>
      </p:sp>
      <p:sp>
        <p:nvSpPr>
          <p:cNvPr id="18" name="Text 14"/>
          <p:cNvSpPr/>
          <p:nvPr/>
        </p:nvSpPr>
        <p:spPr>
          <a:xfrm>
            <a:off x="4983480" y="3931920"/>
            <a:ext cx="3383280" cy="274320"/>
          </a:xfrm>
          <a:prstGeom prst="rect">
            <a:avLst/>
          </a:prstGeom>
          <a:noFill/>
          <a:ln/>
        </p:spPr>
        <p:txBody>
          <a:bodyPr wrap="square" lIns="0" tIns="0" rIns="0" bIns="0" rtlCol="0" anchor="ctr"/>
          <a:lstStyle/>
          <a:p>
            <a:pPr indent="0" marL="0">
              <a:buNone/>
            </a:pPr>
            <a:r>
              <a:rPr lang="en-US" sz="1200" b="1" dirty="0">
                <a:solidFill>
                  <a:srgbClr val="48BB78"/>
                </a:solidFill>
                <a:latin typeface="Calibri" pitchFamily="34" charset="0"/>
                <a:ea typeface="Calibri" pitchFamily="34" charset="-122"/>
                <a:cs typeface="Calibri" pitchFamily="34" charset="-120"/>
              </a:rPr>
              <a:t>Salida: valores continuos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Regresion Lineal</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El modelo mas simple de ML — una linea recta</a:t>
            </a:r>
            <a:endParaRPr lang="en-US" sz="1400" dirty="0"/>
          </a:p>
        </p:txBody>
      </p:sp>
      <p:sp>
        <p:nvSpPr>
          <p:cNvPr id="5" name="Shape 3"/>
          <p:cNvSpPr/>
          <p:nvPr/>
        </p:nvSpPr>
        <p:spPr>
          <a:xfrm>
            <a:off x="548640" y="1188720"/>
            <a:ext cx="41148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828800"/>
          </a:xfrm>
          <a:prstGeom prst="rect">
            <a:avLst/>
          </a:prstGeom>
          <a:solidFill>
            <a:srgbClr val="2E75B6"/>
          </a:solidFill>
          <a:ln/>
        </p:spPr>
      </p:sp>
      <p:sp>
        <p:nvSpPr>
          <p:cNvPr id="7" name="Text 5"/>
          <p:cNvSpPr/>
          <p:nvPr/>
        </p:nvSpPr>
        <p:spPr>
          <a:xfrm>
            <a:off x="777240" y="1280160"/>
            <a:ext cx="365760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Formula</a:t>
            </a:r>
            <a:endParaRPr lang="en-US" sz="1500" dirty="0"/>
          </a:p>
        </p:txBody>
      </p:sp>
      <p:sp>
        <p:nvSpPr>
          <p:cNvPr id="8" name="Text 6"/>
          <p:cNvSpPr/>
          <p:nvPr/>
        </p:nvSpPr>
        <p:spPr>
          <a:xfrm>
            <a:off x="777240" y="1645920"/>
            <a:ext cx="3657600" cy="365760"/>
          </a:xfrm>
          <a:prstGeom prst="rect">
            <a:avLst/>
          </a:prstGeom>
          <a:noFill/>
          <a:ln/>
        </p:spPr>
        <p:txBody>
          <a:bodyPr wrap="square" lIns="0" tIns="0" rIns="0" bIns="0" rtlCol="0" anchor="ctr"/>
          <a:lstStyle/>
          <a:p>
            <a:pPr indent="0" marL="0">
              <a:buNone/>
            </a:pPr>
            <a:r>
              <a:rPr lang="en-US" sz="1800" b="1" dirty="0">
                <a:solidFill>
                  <a:srgbClr val="2E75B6"/>
                </a:solidFill>
                <a:latin typeface="Consolas" pitchFamily="34" charset="0"/>
                <a:ea typeface="Consolas" pitchFamily="34" charset="-122"/>
                <a:cs typeface="Consolas" pitchFamily="34" charset="-120"/>
              </a:rPr>
              <a:t>y = w₁x₁ + w₂x₂ + ... + wₙxₙ + b</a:t>
            </a:r>
            <a:endParaRPr lang="en-US" sz="1800" dirty="0"/>
          </a:p>
        </p:txBody>
      </p:sp>
      <p:sp>
        <p:nvSpPr>
          <p:cNvPr id="9" name="Text 7"/>
          <p:cNvSpPr/>
          <p:nvPr/>
        </p:nvSpPr>
        <p:spPr>
          <a:xfrm>
            <a:off x="777240" y="2103120"/>
            <a:ext cx="3657600" cy="731520"/>
          </a:xfrm>
          <a:prstGeom prst="rect">
            <a:avLst/>
          </a:prstGeom>
          <a:noFill/>
          <a:ln/>
        </p:spPr>
        <p:txBody>
          <a:bodyPr wrap="square" rtlCol="0" anchor="ctr"/>
          <a:lstStyle/>
          <a:p>
            <a:pPr indent="0" marL="0">
              <a:spcAft>
                <a:spcPts val="200"/>
              </a:spcAft>
              <a:buNone/>
            </a:pPr>
            <a:r>
              <a:rPr lang="en-US" sz="1200" b="1" dirty="0">
                <a:solidFill>
                  <a:srgbClr val="2D3748"/>
                </a:solidFill>
                <a:latin typeface="Calibri" pitchFamily="34" charset="0"/>
                <a:ea typeface="Calibri" pitchFamily="34" charset="-122"/>
                <a:cs typeface="Calibri" pitchFamily="34" charset="-120"/>
              </a:rPr>
              <a:t>y: </a:t>
            </a:r>
            <a:pPr indent="0" marL="0">
              <a:spcAft>
                <a:spcPts val="200"/>
              </a:spcAft>
              <a:buNone/>
            </a:pPr>
            <a:r>
              <a:rPr lang="en-US" sz="1200" dirty="0">
                <a:solidFill>
                  <a:srgbClr val="2D3748"/>
                </a:solidFill>
                <a:latin typeface="Calibri" pitchFamily="34" charset="0"/>
                <a:ea typeface="Calibri" pitchFamily="34" charset="-122"/>
                <a:cs typeface="Calibri" pitchFamily="34" charset="-120"/>
              </a:rPr>
              <a:t>prediccion</a:t>
            </a:r>
            <a:endParaRPr lang="en-US" sz="1200" dirty="0"/>
          </a:p>
          <a:p>
            <a:pPr indent="0" marL="0">
              <a:spcAft>
                <a:spcPts val="200"/>
              </a:spcAft>
              <a:buNone/>
            </a:pPr>
            <a:r>
              <a:rPr lang="en-US" sz="1200" b="1" dirty="0">
                <a:solidFill>
                  <a:srgbClr val="2D3748"/>
                </a:solidFill>
                <a:latin typeface="Calibri" pitchFamily="34" charset="0"/>
                <a:ea typeface="Calibri" pitchFamily="34" charset="-122"/>
                <a:cs typeface="Calibri" pitchFamily="34" charset="-120"/>
              </a:rPr>
              <a:t>x: </a:t>
            </a:r>
            <a:pPr indent="0" marL="0">
              <a:spcAft>
                <a:spcPts val="200"/>
              </a:spcAft>
              <a:buNone/>
            </a:pPr>
            <a:r>
              <a:rPr lang="en-US" sz="1200" dirty="0">
                <a:solidFill>
                  <a:srgbClr val="2D3748"/>
                </a:solidFill>
                <a:latin typeface="Calibri" pitchFamily="34" charset="0"/>
                <a:ea typeface="Calibri" pitchFamily="34" charset="-122"/>
                <a:cs typeface="Calibri" pitchFamily="34" charset="-120"/>
              </a:rPr>
              <a:t>caracteristicas de entrada</a:t>
            </a:r>
            <a:endParaRPr lang="en-US" sz="1200" dirty="0"/>
          </a:p>
          <a:p>
            <a:pPr indent="0" marL="0">
              <a:spcAft>
                <a:spcPts val="200"/>
              </a:spcAft>
              <a:buNone/>
            </a:pPr>
            <a:r>
              <a:rPr lang="en-US" sz="1200" b="1" dirty="0">
                <a:solidFill>
                  <a:srgbClr val="2D3748"/>
                </a:solidFill>
                <a:latin typeface="Calibri" pitchFamily="34" charset="0"/>
                <a:ea typeface="Calibri" pitchFamily="34" charset="-122"/>
                <a:cs typeface="Calibri" pitchFamily="34" charset="-120"/>
              </a:rPr>
              <a:t>w: </a:t>
            </a:r>
            <a:pPr indent="0" marL="0">
              <a:spcAft>
                <a:spcPts val="200"/>
              </a:spcAft>
              <a:buNone/>
            </a:pPr>
            <a:r>
              <a:rPr lang="en-US" sz="1200" dirty="0">
                <a:solidFill>
                  <a:srgbClr val="2D3748"/>
                </a:solidFill>
                <a:latin typeface="Calibri" pitchFamily="34" charset="0"/>
                <a:ea typeface="Calibri" pitchFamily="34" charset="-122"/>
                <a:cs typeface="Calibri" pitchFamily="34" charset="-120"/>
              </a:rPr>
              <a:t>pesos (se aprenden)</a:t>
            </a:r>
            <a:endParaRPr lang="en-US" sz="1200" dirty="0"/>
          </a:p>
          <a:p>
            <a:pPr indent="0" marL="0">
              <a:spcAft>
                <a:spcPts val="200"/>
              </a:spcAft>
              <a:buNone/>
            </a:pPr>
            <a:r>
              <a:rPr lang="en-US" sz="1200" b="1" dirty="0">
                <a:solidFill>
                  <a:srgbClr val="2D3748"/>
                </a:solidFill>
                <a:latin typeface="Calibri" pitchFamily="34" charset="0"/>
                <a:ea typeface="Calibri" pitchFamily="34" charset="-122"/>
                <a:cs typeface="Calibri" pitchFamily="34" charset="-120"/>
              </a:rPr>
              <a:t>b: </a:t>
            </a:r>
            <a:pPr indent="0" marL="0">
              <a:spcAft>
                <a:spcPts val="200"/>
              </a:spcAft>
              <a:buNone/>
            </a:pPr>
            <a:r>
              <a:rPr lang="en-US" sz="1200" dirty="0">
                <a:solidFill>
                  <a:srgbClr val="2D3748"/>
                </a:solidFill>
                <a:latin typeface="Calibri" pitchFamily="34" charset="0"/>
                <a:ea typeface="Calibri" pitchFamily="34" charset="-122"/>
                <a:cs typeface="Calibri" pitchFamily="34" charset="-120"/>
              </a:rPr>
              <a:t>sesgo (intercepto)</a:t>
            </a:r>
            <a:endParaRPr lang="en-US" sz="1200" dirty="0"/>
          </a:p>
        </p:txBody>
      </p:sp>
      <p:sp>
        <p:nvSpPr>
          <p:cNvPr id="10" name="Shape 8"/>
          <p:cNvSpPr/>
          <p:nvPr/>
        </p:nvSpPr>
        <p:spPr>
          <a:xfrm>
            <a:off x="5029200" y="1188720"/>
            <a:ext cx="36576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5029200" y="1188720"/>
            <a:ext cx="3657600" cy="54864"/>
          </a:xfrm>
          <a:prstGeom prst="rect">
            <a:avLst/>
          </a:prstGeom>
          <a:solidFill>
            <a:srgbClr val="48BB78"/>
          </a:solidFill>
          <a:ln/>
        </p:spPr>
      </p:sp>
      <p:sp>
        <p:nvSpPr>
          <p:cNvPr id="12" name="Text 10"/>
          <p:cNvSpPr/>
          <p:nvPr/>
        </p:nvSpPr>
        <p:spPr>
          <a:xfrm>
            <a:off x="5212080" y="1371600"/>
            <a:ext cx="329184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Ejemplo: Precio de Casas</a:t>
            </a:r>
            <a:endParaRPr lang="en-US" sz="1400" dirty="0"/>
          </a:p>
        </p:txBody>
      </p:sp>
      <p:sp>
        <p:nvSpPr>
          <p:cNvPr id="13" name="Text 11"/>
          <p:cNvSpPr/>
          <p:nvPr/>
        </p:nvSpPr>
        <p:spPr>
          <a:xfrm>
            <a:off x="5212080" y="1737360"/>
            <a:ext cx="3291840" cy="274320"/>
          </a:xfrm>
          <a:prstGeom prst="rect">
            <a:avLst/>
          </a:prstGeom>
          <a:noFill/>
          <a:ln/>
        </p:spPr>
        <p:txBody>
          <a:bodyPr wrap="square" lIns="0" tIns="0" rIns="0" bIns="0" rtlCol="0" anchor="ctr"/>
          <a:lstStyle/>
          <a:p>
            <a:pPr indent="0" marL="0">
              <a:buNone/>
            </a:pPr>
            <a:r>
              <a:rPr lang="en-US" sz="1300" dirty="0">
                <a:solidFill>
                  <a:srgbClr val="2D3748"/>
                </a:solidFill>
                <a:latin typeface="Consolas" pitchFamily="34" charset="0"/>
                <a:ea typeface="Consolas" pitchFamily="34" charset="-122"/>
                <a:cs typeface="Consolas" pitchFamily="34" charset="-120"/>
              </a:rPr>
              <a:t>Precio = 15,000 × Area + 100,000</a:t>
            </a:r>
            <a:endParaRPr lang="en-US" sz="1300" dirty="0"/>
          </a:p>
        </p:txBody>
      </p:sp>
      <p:sp>
        <p:nvSpPr>
          <p:cNvPr id="14" name="Text 12"/>
          <p:cNvSpPr/>
          <p:nvPr/>
        </p:nvSpPr>
        <p:spPr>
          <a:xfrm>
            <a:off x="5212080" y="2148840"/>
            <a:ext cx="3291840" cy="640080"/>
          </a:xfrm>
          <a:prstGeom prst="rect">
            <a:avLst/>
          </a:prstGeom>
          <a:noFill/>
          <a:ln/>
        </p:spPr>
        <p:txBody>
          <a:bodyPr wrap="square" rtlCol="0" anchor="ctr"/>
          <a:lstStyle/>
          <a:p>
            <a:pPr marL="342900" indent="-342900">
              <a:spcAft>
                <a:spcPts val="400"/>
              </a:spcAft>
              <a:buSzPct val="100000"/>
              <a:buChar char="•"/>
            </a:pPr>
            <a:r>
              <a:rPr lang="en-US" sz="1200" dirty="0">
                <a:solidFill>
                  <a:srgbClr val="2D3748"/>
                </a:solidFill>
                <a:latin typeface="Calibri" pitchFamily="34" charset="0"/>
                <a:ea typeface="Calibri" pitchFamily="34" charset="-122"/>
                <a:cs typeface="Calibri" pitchFamily="34" charset="-120"/>
              </a:rPr>
              <a:t>Casa de 85 m² → $1,375,000</a:t>
            </a:r>
            <a:endParaRPr lang="en-US" sz="1200" dirty="0"/>
          </a:p>
          <a:p>
            <a:pPr marL="342900" indent="-342900">
              <a:spcAft>
                <a:spcPts val="400"/>
              </a:spcAft>
              <a:buSzPct val="100000"/>
              <a:buChar char="•"/>
            </a:pPr>
            <a:r>
              <a:rPr lang="en-US" sz="1200" dirty="0">
                <a:solidFill>
                  <a:srgbClr val="2D3748"/>
                </a:solidFill>
                <a:latin typeface="Calibri" pitchFamily="34" charset="0"/>
                <a:ea typeface="Calibri" pitchFamily="34" charset="-122"/>
                <a:cs typeface="Calibri" pitchFamily="34" charset="-120"/>
              </a:rPr>
              <a:t>Casa de 125 m² → $1,975,000</a:t>
            </a:r>
            <a:endParaRPr lang="en-US" sz="1200" dirty="0"/>
          </a:p>
        </p:txBody>
      </p:sp>
      <p:sp>
        <p:nvSpPr>
          <p:cNvPr id="15" name="Shape 13"/>
          <p:cNvSpPr/>
          <p:nvPr/>
        </p:nvSpPr>
        <p:spPr>
          <a:xfrm>
            <a:off x="548640" y="3291840"/>
            <a:ext cx="804672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548640" y="3291840"/>
            <a:ext cx="8046720" cy="54864"/>
          </a:xfrm>
          <a:prstGeom prst="rect">
            <a:avLst/>
          </a:prstGeom>
          <a:solidFill>
            <a:srgbClr val="9F7AEA"/>
          </a:solidFill>
          <a:ln/>
        </p:spPr>
      </p:sp>
      <p:sp>
        <p:nvSpPr>
          <p:cNvPr id="17" name="Text 15"/>
          <p:cNvSpPr/>
          <p:nvPr/>
        </p:nvSpPr>
        <p:spPr>
          <a:xfrm>
            <a:off x="777240" y="3429000"/>
            <a:ext cx="758952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Regresion Logistica — Clasificacion Binaria</a:t>
            </a:r>
            <a:endParaRPr lang="en-US" sz="1600" dirty="0"/>
          </a:p>
        </p:txBody>
      </p:sp>
      <p:sp>
        <p:nvSpPr>
          <p:cNvPr id="18" name="Text 16"/>
          <p:cNvSpPr/>
          <p:nvPr/>
        </p:nvSpPr>
        <p:spPr>
          <a:xfrm>
            <a:off x="777240" y="3794760"/>
            <a:ext cx="4572000" cy="320040"/>
          </a:xfrm>
          <a:prstGeom prst="rect">
            <a:avLst/>
          </a:prstGeom>
          <a:noFill/>
          <a:ln/>
        </p:spPr>
        <p:txBody>
          <a:bodyPr wrap="square" lIns="0" tIns="0" rIns="0" bIns="0" rtlCol="0" anchor="ctr"/>
          <a:lstStyle/>
          <a:p>
            <a:pPr indent="0" marL="0">
              <a:buNone/>
            </a:pPr>
            <a:r>
              <a:rPr lang="en-US" sz="1400" dirty="0">
                <a:solidFill>
                  <a:srgbClr val="9F7AEA"/>
                </a:solidFill>
                <a:latin typeface="Consolas" pitchFamily="34" charset="0"/>
                <a:ea typeface="Consolas" pitchFamily="34" charset="-122"/>
                <a:cs typeface="Consolas" pitchFamily="34" charset="-120"/>
              </a:rPr>
              <a:t>P(y=1|x) = σ(w·x + b) = 1 / (1 + e^(-(w·x + b)))</a:t>
            </a:r>
            <a:endParaRPr lang="en-US" sz="1400" dirty="0"/>
          </a:p>
        </p:txBody>
      </p:sp>
      <p:sp>
        <p:nvSpPr>
          <p:cNvPr id="19" name="Text 17"/>
          <p:cNvSpPr/>
          <p:nvPr/>
        </p:nvSpPr>
        <p:spPr>
          <a:xfrm>
            <a:off x="777240" y="4160520"/>
            <a:ext cx="75895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La funcion sigmoide convierte cualquier valor en una probabilidad entre 0 y 1. Si P &gt; 0.5, predice clase 1; sino, clase 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Si un modelo de regresion logistica da P(spam) = 0.73 para un email, ¿que significa esto en terminos practicos?</a:t>
            </a:r>
            <a:endParaRPr lang="en-US" sz="1800" dirty="0"/>
          </a:p>
        </p:txBody>
      </p:sp>
      <p:sp>
        <p:nvSpPr>
          <p:cNvPr id="5" name="Text 2"/>
          <p:cNvSpPr/>
          <p:nvPr/>
        </p:nvSpPr>
        <p:spPr>
          <a:xfrm>
            <a:off x="1371600" y="3200400"/>
            <a:ext cx="6400800" cy="45720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¿Que pasaria si cambias el umbral de 0.5 a 0.9?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Los Tres Paradigmas de Aprendizaje</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Supervisado, No Supervisado y por Refuerzo</a:t>
            </a:r>
            <a:endParaRPr lang="en-US" sz="1400" dirty="0"/>
          </a:p>
        </p:txBody>
      </p:sp>
      <p:sp>
        <p:nvSpPr>
          <p:cNvPr id="5" name="Shape 3"/>
          <p:cNvSpPr/>
          <p:nvPr/>
        </p:nvSpPr>
        <p:spPr>
          <a:xfrm>
            <a:off x="548640" y="1188720"/>
            <a:ext cx="25603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2560320" cy="54864"/>
          </a:xfrm>
          <a:prstGeom prst="rect">
            <a:avLst/>
          </a:prstGeom>
          <a:solidFill>
            <a:srgbClr val="2E75B6"/>
          </a:solidFill>
          <a:ln/>
        </p:spPr>
      </p:sp>
      <p:pic>
        <p:nvPicPr>
          <p:cNvPr id="7" name="Image 0" descr="preencoded.png">    </p:cNvPr>
          <p:cNvPicPr>
            <a:picLocks noChangeAspect="1"/>
          </p:cNvPicPr>
          <p:nvPr/>
        </p:nvPicPr>
        <p:blipFill>
          <a:blip r:embed="rId1"/>
          <a:stretch>
            <a:fillRect/>
          </a:stretch>
        </p:blipFill>
        <p:spPr>
          <a:xfrm>
            <a:off x="1508760" y="1371600"/>
            <a:ext cx="457200" cy="457200"/>
          </a:xfrm>
          <a:prstGeom prst="rect">
            <a:avLst/>
          </a:prstGeom>
        </p:spPr>
      </p:pic>
      <p:sp>
        <p:nvSpPr>
          <p:cNvPr id="8" name="Text 5"/>
          <p:cNvSpPr/>
          <p:nvPr/>
        </p:nvSpPr>
        <p:spPr>
          <a:xfrm>
            <a:off x="731520" y="1920240"/>
            <a:ext cx="2194560" cy="32004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Supervisado</a:t>
            </a:r>
            <a:endParaRPr lang="en-US" sz="1600" dirty="0"/>
          </a:p>
        </p:txBody>
      </p:sp>
      <p:sp>
        <p:nvSpPr>
          <p:cNvPr id="9" name="Text 6"/>
          <p:cNvSpPr/>
          <p:nvPr/>
        </p:nvSpPr>
        <p:spPr>
          <a:xfrm>
            <a:off x="731520" y="2331720"/>
            <a:ext cx="2194560" cy="91440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Datos con etiquetas.</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El sistema aprende a etiquetar nuevos datos.</a:t>
            </a:r>
            <a:endParaRPr lang="en-US" sz="1200" dirty="0"/>
          </a:p>
        </p:txBody>
      </p:sp>
      <p:sp>
        <p:nvSpPr>
          <p:cNvPr id="10" name="Shape 7"/>
          <p:cNvSpPr/>
          <p:nvPr/>
        </p:nvSpPr>
        <p:spPr>
          <a:xfrm>
            <a:off x="685800" y="3383280"/>
            <a:ext cx="2286000" cy="45720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1" name="Text 8"/>
          <p:cNvSpPr/>
          <p:nvPr/>
        </p:nvSpPr>
        <p:spPr>
          <a:xfrm>
            <a:off x="731520" y="3429000"/>
            <a:ext cx="2194560" cy="365760"/>
          </a:xfrm>
          <a:prstGeom prst="rect">
            <a:avLst/>
          </a:prstGeom>
          <a:noFill/>
          <a:ln/>
        </p:spPr>
        <p:txBody>
          <a:bodyPr wrap="square" lIns="0" tIns="0" rIns="0" bIns="0" rtlCol="0" anchor="ctr"/>
          <a:lstStyle/>
          <a:p>
            <a:pPr algn="ctr" indent="0" marL="0">
              <a:buNone/>
            </a:pPr>
            <a:r>
              <a:rPr lang="en-US" sz="1100" dirty="0">
                <a:solidFill>
                  <a:srgbClr val="2E75B6"/>
                </a:solidFill>
                <a:latin typeface="Consolas" pitchFamily="34" charset="0"/>
                <a:ea typeface="Consolas" pitchFamily="34" charset="-122"/>
                <a:cs typeface="Consolas" pitchFamily="34" charset="-120"/>
              </a:rPr>
              <a:t>Fotos → [gato, perro, ...]</a:t>
            </a:r>
            <a:endParaRPr lang="en-US" sz="1100" dirty="0"/>
          </a:p>
        </p:txBody>
      </p:sp>
      <p:sp>
        <p:nvSpPr>
          <p:cNvPr id="12" name="Shape 9"/>
          <p:cNvSpPr/>
          <p:nvPr/>
        </p:nvSpPr>
        <p:spPr>
          <a:xfrm>
            <a:off x="3383280" y="1188720"/>
            <a:ext cx="25603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3383280" y="1188720"/>
            <a:ext cx="2560320" cy="54864"/>
          </a:xfrm>
          <a:prstGeom prst="rect">
            <a:avLst/>
          </a:prstGeom>
          <a:solidFill>
            <a:srgbClr val="48BB78"/>
          </a:solidFill>
          <a:ln/>
        </p:spPr>
      </p:sp>
      <p:pic>
        <p:nvPicPr>
          <p:cNvPr id="14" name="Image 1" descr="preencoded.png">    </p:cNvPr>
          <p:cNvPicPr>
            <a:picLocks noChangeAspect="1"/>
          </p:cNvPicPr>
          <p:nvPr/>
        </p:nvPicPr>
        <p:blipFill>
          <a:blip r:embed="rId2"/>
          <a:stretch>
            <a:fillRect/>
          </a:stretch>
        </p:blipFill>
        <p:spPr>
          <a:xfrm>
            <a:off x="4343400" y="1371600"/>
            <a:ext cx="457200" cy="457200"/>
          </a:xfrm>
          <a:prstGeom prst="rect">
            <a:avLst/>
          </a:prstGeom>
        </p:spPr>
      </p:pic>
      <p:sp>
        <p:nvSpPr>
          <p:cNvPr id="15" name="Text 11"/>
          <p:cNvSpPr/>
          <p:nvPr/>
        </p:nvSpPr>
        <p:spPr>
          <a:xfrm>
            <a:off x="3566160" y="1920240"/>
            <a:ext cx="2194560" cy="32004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No Supervisado</a:t>
            </a:r>
            <a:endParaRPr lang="en-US" sz="1600" dirty="0"/>
          </a:p>
        </p:txBody>
      </p:sp>
      <p:sp>
        <p:nvSpPr>
          <p:cNvPr id="16" name="Text 12"/>
          <p:cNvSpPr/>
          <p:nvPr/>
        </p:nvSpPr>
        <p:spPr>
          <a:xfrm>
            <a:off x="3566160" y="2331720"/>
            <a:ext cx="2194560" cy="91440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Datos sin etiquetas.</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El sistema encuentra patrones o estructura.</a:t>
            </a:r>
            <a:endParaRPr lang="en-US" sz="1200" dirty="0"/>
          </a:p>
        </p:txBody>
      </p:sp>
      <p:sp>
        <p:nvSpPr>
          <p:cNvPr id="17" name="Shape 13"/>
          <p:cNvSpPr/>
          <p:nvPr/>
        </p:nvSpPr>
        <p:spPr>
          <a:xfrm>
            <a:off x="3520440" y="3383280"/>
            <a:ext cx="2286000" cy="45720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8" name="Text 14"/>
          <p:cNvSpPr/>
          <p:nvPr/>
        </p:nvSpPr>
        <p:spPr>
          <a:xfrm>
            <a:off x="3566160" y="3429000"/>
            <a:ext cx="2194560" cy="365760"/>
          </a:xfrm>
          <a:prstGeom prst="rect">
            <a:avLst/>
          </a:prstGeom>
          <a:noFill/>
          <a:ln/>
        </p:spPr>
        <p:txBody>
          <a:bodyPr wrap="square" lIns="0" tIns="0" rIns="0" bIns="0" rtlCol="0" anchor="ctr"/>
          <a:lstStyle/>
          <a:p>
            <a:pPr algn="ctr" indent="0" marL="0">
              <a:buNone/>
            </a:pPr>
            <a:r>
              <a:rPr lang="en-US" sz="1100" dirty="0">
                <a:solidFill>
                  <a:srgbClr val="48BB78"/>
                </a:solidFill>
                <a:latin typeface="Consolas" pitchFamily="34" charset="0"/>
                <a:ea typeface="Consolas" pitchFamily="34" charset="-122"/>
                <a:cs typeface="Consolas" pitchFamily="34" charset="-120"/>
              </a:rPr>
              <a:t>Clientes → Clusters similares</a:t>
            </a:r>
            <a:endParaRPr lang="en-US" sz="1100" dirty="0"/>
          </a:p>
        </p:txBody>
      </p:sp>
      <p:sp>
        <p:nvSpPr>
          <p:cNvPr id="19" name="Shape 15"/>
          <p:cNvSpPr/>
          <p:nvPr/>
        </p:nvSpPr>
        <p:spPr>
          <a:xfrm>
            <a:off x="6217920" y="1188720"/>
            <a:ext cx="25603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6"/>
          <p:cNvSpPr/>
          <p:nvPr/>
        </p:nvSpPr>
        <p:spPr>
          <a:xfrm>
            <a:off x="6217920" y="1188720"/>
            <a:ext cx="2560320" cy="54864"/>
          </a:xfrm>
          <a:prstGeom prst="rect">
            <a:avLst/>
          </a:prstGeom>
          <a:solidFill>
            <a:srgbClr val="ED8936"/>
          </a:solidFill>
          <a:ln/>
        </p:spPr>
      </p:sp>
      <p:pic>
        <p:nvPicPr>
          <p:cNvPr id="21" name="Image 2" descr="preencoded.png">    </p:cNvPr>
          <p:cNvPicPr>
            <a:picLocks noChangeAspect="1"/>
          </p:cNvPicPr>
          <p:nvPr/>
        </p:nvPicPr>
        <p:blipFill>
          <a:blip r:embed="rId3"/>
          <a:stretch>
            <a:fillRect/>
          </a:stretch>
        </p:blipFill>
        <p:spPr>
          <a:xfrm>
            <a:off x="7178040" y="1371600"/>
            <a:ext cx="457200" cy="457200"/>
          </a:xfrm>
          <a:prstGeom prst="rect">
            <a:avLst/>
          </a:prstGeom>
        </p:spPr>
      </p:pic>
      <p:sp>
        <p:nvSpPr>
          <p:cNvPr id="22" name="Text 17"/>
          <p:cNvSpPr/>
          <p:nvPr/>
        </p:nvSpPr>
        <p:spPr>
          <a:xfrm>
            <a:off x="6400800" y="1920240"/>
            <a:ext cx="2194560" cy="32004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Refuerzo</a:t>
            </a:r>
            <a:endParaRPr lang="en-US" sz="1600" dirty="0"/>
          </a:p>
        </p:txBody>
      </p:sp>
      <p:sp>
        <p:nvSpPr>
          <p:cNvPr id="23" name="Text 18"/>
          <p:cNvSpPr/>
          <p:nvPr/>
        </p:nvSpPr>
        <p:spPr>
          <a:xfrm>
            <a:off x="6400800" y="2331720"/>
            <a:ext cx="2194560" cy="91440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Agente aprende mediante prueba y error con recompensas.</a:t>
            </a:r>
            <a:endParaRPr lang="en-US" sz="1200" dirty="0"/>
          </a:p>
        </p:txBody>
      </p:sp>
      <p:sp>
        <p:nvSpPr>
          <p:cNvPr id="24" name="Shape 19"/>
          <p:cNvSpPr/>
          <p:nvPr/>
        </p:nvSpPr>
        <p:spPr>
          <a:xfrm>
            <a:off x="6355080" y="3383280"/>
            <a:ext cx="2286000" cy="45720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25" name="Text 20"/>
          <p:cNvSpPr/>
          <p:nvPr/>
        </p:nvSpPr>
        <p:spPr>
          <a:xfrm>
            <a:off x="6400800" y="3429000"/>
            <a:ext cx="2194560" cy="365760"/>
          </a:xfrm>
          <a:prstGeom prst="rect">
            <a:avLst/>
          </a:prstGeom>
          <a:noFill/>
          <a:ln/>
        </p:spPr>
        <p:txBody>
          <a:bodyPr wrap="square" lIns="0" tIns="0" rIns="0" bIns="0" rtlCol="0" anchor="ctr"/>
          <a:lstStyle/>
          <a:p>
            <a:pPr algn="ctr" indent="0" marL="0">
              <a:buNone/>
            </a:pPr>
            <a:r>
              <a:rPr lang="en-US" sz="1100" dirty="0">
                <a:solidFill>
                  <a:srgbClr val="ED8936"/>
                </a:solidFill>
                <a:latin typeface="Consolas" pitchFamily="34" charset="0"/>
                <a:ea typeface="Consolas" pitchFamily="34" charset="-122"/>
                <a:cs typeface="Consolas" pitchFamily="34" charset="-120"/>
              </a:rPr>
              <a:t>Ajedrez: ganar → +, perder → −</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2E75B6"/>
          </a:solidFill>
          <a:ln/>
        </p:spPr>
      </p:sp>
      <p:sp>
        <p:nvSpPr>
          <p:cNvPr id="3" name="Text 1"/>
          <p:cNvSpPr/>
          <p:nvPr/>
        </p:nvSpPr>
        <p:spPr>
          <a:xfrm>
            <a:off x="548640" y="1097280"/>
            <a:ext cx="8046720" cy="365760"/>
          </a:xfrm>
          <a:prstGeom prst="rect">
            <a:avLst/>
          </a:prstGeom>
          <a:noFill/>
          <a:ln/>
        </p:spPr>
        <p:txBody>
          <a:bodyPr wrap="square" rtlCol="0" anchor="ctr"/>
          <a:lstStyle/>
          <a:p>
            <a:pPr algn="ctr" indent="0" marL="0">
              <a:buNone/>
            </a:pPr>
            <a:r>
              <a:rPr lang="en-US" sz="1400" spc="500" kern="0" dirty="0">
                <a:solidFill>
                  <a:srgbClr val="F6AD55"/>
                </a:solidFill>
                <a:latin typeface="Calibri" pitchFamily="34" charset="0"/>
                <a:ea typeface="Calibri" pitchFamily="34" charset="-122"/>
                <a:cs typeface="Calibri" pitchFamily="34" charset="-120"/>
              </a:rPr>
              <a:t>CONCEPTO 3</a:t>
            </a:r>
            <a:endParaRPr lang="en-US" sz="1400" dirty="0"/>
          </a:p>
        </p:txBody>
      </p:sp>
      <p:sp>
        <p:nvSpPr>
          <p:cNvPr id="4" name="Text 2"/>
          <p:cNvSpPr/>
          <p:nvPr/>
        </p:nvSpPr>
        <p:spPr>
          <a:xfrm>
            <a:off x="548640" y="1645920"/>
            <a:ext cx="804672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Discriminativo vs Generativo</a:t>
            </a:r>
            <a:endParaRPr lang="en-US" sz="3600" dirty="0"/>
          </a:p>
        </p:txBody>
      </p:sp>
      <p:sp>
        <p:nvSpPr>
          <p:cNvPr id="5" name="Text 3"/>
          <p:cNvSpPr/>
          <p:nvPr/>
        </p:nvSpPr>
        <p:spPr>
          <a:xfrm>
            <a:off x="1371600" y="2560320"/>
            <a:ext cx="6400800" cy="4572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La distincion fundamental que define como pensamos sobre IA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Modelos Discriminativos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"¿A que categoria pertenece esto?" — P(Y|X)</a:t>
            </a:r>
            <a:endParaRPr lang="en-US" sz="1400" dirty="0"/>
          </a:p>
        </p:txBody>
      </p:sp>
      <p:sp>
        <p:nvSpPr>
          <p:cNvPr id="5" name="Shape 3"/>
          <p:cNvSpPr/>
          <p:nvPr/>
        </p:nvSpPr>
        <p:spPr>
          <a:xfrm>
            <a:off x="548640" y="1188720"/>
            <a:ext cx="50292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828800"/>
          </a:xfrm>
          <a:prstGeom prst="rect">
            <a:avLst/>
          </a:prstGeom>
          <a:solidFill>
            <a:srgbClr val="2E75B6"/>
          </a:solidFill>
          <a:ln/>
        </p:spPr>
      </p:sp>
      <p:sp>
        <p:nvSpPr>
          <p:cNvPr id="7" name="Text 5"/>
          <p:cNvSpPr/>
          <p:nvPr/>
        </p:nvSpPr>
        <p:spPr>
          <a:xfrm>
            <a:off x="777240" y="1280160"/>
            <a:ext cx="457200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¿Como funciona?</a:t>
            </a:r>
            <a:endParaRPr lang="en-US" sz="1500" dirty="0"/>
          </a:p>
        </p:txBody>
      </p:sp>
      <p:sp>
        <p:nvSpPr>
          <p:cNvPr id="8" name="Text 6"/>
          <p:cNvSpPr/>
          <p:nvPr/>
        </p:nvSpPr>
        <p:spPr>
          <a:xfrm>
            <a:off x="777240" y="1645920"/>
            <a:ext cx="4572000" cy="6400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Dibuja una frontera de decision (linea o hipersuperficie) que separa las clases. Solo necesita aprender donde estan los limites.</a:t>
            </a:r>
            <a:endParaRPr lang="en-US" sz="1300" dirty="0"/>
          </a:p>
        </p:txBody>
      </p:sp>
      <p:sp>
        <p:nvSpPr>
          <p:cNvPr id="9" name="Text 7"/>
          <p:cNvSpPr/>
          <p:nvPr/>
        </p:nvSpPr>
        <p:spPr>
          <a:xfrm>
            <a:off x="777240" y="2331720"/>
            <a:ext cx="4572000" cy="274320"/>
          </a:xfrm>
          <a:prstGeom prst="rect">
            <a:avLst/>
          </a:prstGeom>
          <a:noFill/>
          <a:ln/>
        </p:spPr>
        <p:txBody>
          <a:bodyPr wrap="square" lIns="0" tIns="0" rIns="0" bIns="0" rtlCol="0" anchor="ctr"/>
          <a:lstStyle/>
          <a:p>
            <a:pPr indent="0" marL="0">
              <a:buNone/>
            </a:pPr>
            <a:r>
              <a:rPr lang="en-US" sz="1200" b="1" dirty="0">
                <a:solidFill>
                  <a:srgbClr val="48BB78"/>
                </a:solidFill>
                <a:latin typeface="Calibri" pitchFamily="34" charset="0"/>
                <a:ea typeface="Calibri" pitchFamily="34" charset="-122"/>
                <a:cs typeface="Calibri" pitchFamily="34" charset="-120"/>
              </a:rPr>
              <a:t>Ventaja: muy eficientes si solo necesitas clasificar.</a:t>
            </a:r>
            <a:endParaRPr lang="en-US" sz="1200" dirty="0"/>
          </a:p>
        </p:txBody>
      </p:sp>
      <p:sp>
        <p:nvSpPr>
          <p:cNvPr id="10" name="Shape 8"/>
          <p:cNvSpPr/>
          <p:nvPr/>
        </p:nvSpPr>
        <p:spPr>
          <a:xfrm>
            <a:off x="5943600" y="1188720"/>
            <a:ext cx="274320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5943600" y="1188720"/>
            <a:ext cx="2743200" cy="54864"/>
          </a:xfrm>
          <a:prstGeom prst="rect">
            <a:avLst/>
          </a:prstGeom>
          <a:solidFill>
            <a:srgbClr val="2E75B6"/>
          </a:solidFill>
          <a:ln/>
        </p:spPr>
      </p:sp>
      <p:sp>
        <p:nvSpPr>
          <p:cNvPr id="12" name="Text 10"/>
          <p:cNvSpPr/>
          <p:nvPr/>
        </p:nvSpPr>
        <p:spPr>
          <a:xfrm>
            <a:off x="6126480" y="1371600"/>
            <a:ext cx="237744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Ejemplos</a:t>
            </a:r>
            <a:endParaRPr lang="en-US" sz="1400" dirty="0"/>
          </a:p>
        </p:txBody>
      </p:sp>
      <p:sp>
        <p:nvSpPr>
          <p:cNvPr id="13" name="Text 11"/>
          <p:cNvSpPr/>
          <p:nvPr/>
        </p:nvSpPr>
        <p:spPr>
          <a:xfrm>
            <a:off x="6126480" y="1691640"/>
            <a:ext cx="2377440" cy="914400"/>
          </a:xfrm>
          <a:prstGeom prst="rect">
            <a:avLst/>
          </a:prstGeom>
          <a:noFill/>
          <a:ln/>
        </p:spPr>
        <p:txBody>
          <a:bodyPr wrap="square"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Clasificacion de imagenes</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Deteccion de spam</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Diagnostico medico</a:t>
            </a:r>
            <a:endParaRPr lang="en-US" sz="1200" dirty="0"/>
          </a:p>
        </p:txBody>
      </p:sp>
      <p:sp>
        <p:nvSpPr>
          <p:cNvPr id="14" name="Shape 12"/>
          <p:cNvSpPr/>
          <p:nvPr/>
        </p:nvSpPr>
        <p:spPr>
          <a:xfrm>
            <a:off x="548640" y="3291840"/>
            <a:ext cx="502920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548640" y="3291840"/>
            <a:ext cx="54864" cy="1645920"/>
          </a:xfrm>
          <a:prstGeom prst="rect">
            <a:avLst/>
          </a:prstGeom>
          <a:solidFill>
            <a:srgbClr val="9F7AEA"/>
          </a:solidFill>
          <a:ln/>
        </p:spPr>
      </p:sp>
      <p:sp>
        <p:nvSpPr>
          <p:cNvPr id="16" name="Text 14"/>
          <p:cNvSpPr/>
          <p:nvPr/>
        </p:nvSpPr>
        <p:spPr>
          <a:xfrm>
            <a:off x="777240" y="3383280"/>
            <a:ext cx="457200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Modelos Generativos — P(X,Y)</a:t>
            </a:r>
            <a:endParaRPr lang="en-US" sz="1500" dirty="0"/>
          </a:p>
        </p:txBody>
      </p:sp>
      <p:sp>
        <p:nvSpPr>
          <p:cNvPr id="17" name="Text 15"/>
          <p:cNvSpPr/>
          <p:nvPr/>
        </p:nvSpPr>
        <p:spPr>
          <a:xfrm>
            <a:off x="777240" y="3749040"/>
            <a:ext cx="4572000" cy="6400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Modelan la distribucion completa de los datos. Pueden generar nuevos ejemplos: traduccion, imagenes (DALL-E), chatbots (GPT).</a:t>
            </a:r>
            <a:endParaRPr lang="en-US" sz="1300" dirty="0"/>
          </a:p>
        </p:txBody>
      </p:sp>
      <p:sp>
        <p:nvSpPr>
          <p:cNvPr id="18" name="Text 16"/>
          <p:cNvSpPr/>
          <p:nvPr/>
        </p:nvSpPr>
        <p:spPr>
          <a:xfrm>
            <a:off x="777240" y="4434840"/>
            <a:ext cx="4572000" cy="274320"/>
          </a:xfrm>
          <a:prstGeom prst="rect">
            <a:avLst/>
          </a:prstGeom>
          <a:noFill/>
          <a:ln/>
        </p:spPr>
        <p:txBody>
          <a:bodyPr wrap="square" lIns="0" tIns="0" rIns="0" bIns="0" rtlCol="0" anchor="ctr"/>
          <a:lstStyle/>
          <a:p>
            <a:pPr indent="0" marL="0">
              <a:buNone/>
            </a:pPr>
            <a:r>
              <a:rPr lang="en-US" sz="1200" b="1" dirty="0">
                <a:solidFill>
                  <a:srgbClr val="9F7AEA"/>
                </a:solidFill>
                <a:latin typeface="Calibri" pitchFamily="34" charset="0"/>
                <a:ea typeface="Calibri" pitchFamily="34" charset="-122"/>
                <a:cs typeface="Calibri" pitchFamily="34" charset="-120"/>
              </a:rPr>
              <a:t>Ventaja: entienden la distribucion completa, no solo limites.</a:t>
            </a:r>
            <a:endParaRPr lang="en-US" sz="1200" dirty="0"/>
          </a:p>
        </p:txBody>
      </p:sp>
      <p:sp>
        <p:nvSpPr>
          <p:cNvPr id="19" name="Shape 17"/>
          <p:cNvSpPr/>
          <p:nvPr/>
        </p:nvSpPr>
        <p:spPr>
          <a:xfrm>
            <a:off x="5943600" y="3291840"/>
            <a:ext cx="2743200" cy="1645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8"/>
          <p:cNvSpPr/>
          <p:nvPr/>
        </p:nvSpPr>
        <p:spPr>
          <a:xfrm>
            <a:off x="5943600" y="3291840"/>
            <a:ext cx="2743200" cy="54864"/>
          </a:xfrm>
          <a:prstGeom prst="rect">
            <a:avLst/>
          </a:prstGeom>
          <a:solidFill>
            <a:srgbClr val="9F7AEA"/>
          </a:solidFill>
          <a:ln/>
        </p:spPr>
      </p:sp>
      <p:sp>
        <p:nvSpPr>
          <p:cNvPr id="21" name="Text 19"/>
          <p:cNvSpPr/>
          <p:nvPr/>
        </p:nvSpPr>
        <p:spPr>
          <a:xfrm>
            <a:off x="6126480" y="3474720"/>
            <a:ext cx="237744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Matematicamente</a:t>
            </a:r>
            <a:endParaRPr lang="en-US" sz="1400" dirty="0"/>
          </a:p>
        </p:txBody>
      </p:sp>
      <p:sp>
        <p:nvSpPr>
          <p:cNvPr id="22" name="Text 20"/>
          <p:cNvSpPr/>
          <p:nvPr/>
        </p:nvSpPr>
        <p:spPr>
          <a:xfrm>
            <a:off x="6126480" y="3840480"/>
            <a:ext cx="2377440" cy="731520"/>
          </a:xfrm>
          <a:prstGeom prst="rect">
            <a:avLst/>
          </a:prstGeom>
          <a:noFill/>
          <a:ln/>
        </p:spPr>
        <p:txBody>
          <a:bodyPr wrap="square" rtlCol="0" anchor="ctr"/>
          <a:lstStyle/>
          <a:p>
            <a:pPr indent="0" marL="0">
              <a:spcAft>
                <a:spcPts val="600"/>
              </a:spcAft>
              <a:buNone/>
            </a:pPr>
            <a:r>
              <a:rPr lang="en-US" sz="1200" b="1" dirty="0">
                <a:solidFill>
                  <a:srgbClr val="2D3748"/>
                </a:solidFill>
                <a:latin typeface="Calibri" pitchFamily="34" charset="0"/>
                <a:ea typeface="Calibri" pitchFamily="34" charset="-122"/>
                <a:cs typeface="Calibri" pitchFamily="34" charset="-120"/>
              </a:rPr>
              <a:t>Discriminativo: </a:t>
            </a:r>
            <a:pPr indent="0" marL="0">
              <a:spcAft>
                <a:spcPts val="600"/>
              </a:spcAft>
              <a:buNone/>
            </a:pPr>
            <a:r>
              <a:rPr lang="en-US" sz="1200" dirty="0">
                <a:solidFill>
                  <a:srgbClr val="2D3748"/>
                </a:solidFill>
                <a:latin typeface="Calibri" pitchFamily="34" charset="0"/>
                <a:ea typeface="Calibri" pitchFamily="34" charset="-122"/>
                <a:cs typeface="Calibri" pitchFamily="34" charset="-120"/>
              </a:rPr>
              <a:t>P(Y|X)</a:t>
            </a:r>
            <a:endParaRPr lang="en-US" sz="1200" dirty="0"/>
          </a:p>
          <a:p>
            <a:pPr indent="0" marL="0">
              <a:spcAft>
                <a:spcPts val="600"/>
              </a:spcAft>
              <a:buNone/>
            </a:pPr>
            <a:r>
              <a:rPr lang="en-US" sz="1200" b="1" dirty="0">
                <a:solidFill>
                  <a:srgbClr val="2D3748"/>
                </a:solidFill>
                <a:latin typeface="Calibri" pitchFamily="34" charset="0"/>
                <a:ea typeface="Calibri" pitchFamily="34" charset="-122"/>
                <a:cs typeface="Calibri" pitchFamily="34" charset="-120"/>
              </a:rPr>
              <a:t>Generativo: </a:t>
            </a:r>
            <a:pPr indent="0" marL="0">
              <a:spcAft>
                <a:spcPts val="600"/>
              </a:spcAft>
              <a:buNone/>
            </a:pPr>
            <a:r>
              <a:rPr lang="en-US" sz="1200" dirty="0">
                <a:solidFill>
                  <a:srgbClr val="2D3748"/>
                </a:solidFill>
                <a:latin typeface="Calibri" pitchFamily="34" charset="0"/>
                <a:ea typeface="Calibri" pitchFamily="34" charset="-122"/>
                <a:cs typeface="Calibri" pitchFamily="34" charset="-120"/>
              </a:rPr>
              <a:t>P(X,Y) → P(X|Y), P(X)</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Si tienes un modelo generativo que entiende la distribucion completa de gatos y perros, ¿puede tambien clasificar?</a:t>
            </a:r>
            <a:endParaRPr lang="en-US" sz="1800" dirty="0"/>
          </a:p>
        </p:txBody>
      </p:sp>
      <p:sp>
        <p:nvSpPr>
          <p:cNvPr id="5" name="Text 2"/>
          <p:cNvSpPr/>
          <p:nvPr/>
        </p:nvSpPr>
        <p:spPr>
          <a:xfrm>
            <a:off x="1371600" y="3200400"/>
            <a:ext cx="6400800" cy="45720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¿Que informacion adicional tiene un modelo generativo que un discriminativo no?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Conexion con Arquitecturas Modernas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BERT (encoder/discriminativo) vs GPT (decoder/generativo)</a:t>
            </a:r>
            <a:endParaRPr lang="en-US" sz="1400" dirty="0"/>
          </a:p>
        </p:txBody>
      </p:sp>
      <p:sp>
        <p:nvSpPr>
          <p:cNvPr id="5" name="Shape 3"/>
          <p:cNvSpPr/>
          <p:nvPr/>
        </p:nvSpPr>
        <p:spPr>
          <a:xfrm>
            <a:off x="548640" y="1188720"/>
            <a:ext cx="804672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280160"/>
          </a:xfrm>
          <a:prstGeom prst="rect">
            <a:avLst/>
          </a:prstGeom>
          <a:solidFill>
            <a:srgbClr val="F6AD55"/>
          </a:solidFill>
          <a:ln/>
        </p:spPr>
      </p:sp>
      <p:sp>
        <p:nvSpPr>
          <p:cNvPr id="7" name="Text 5"/>
          <p:cNvSpPr/>
          <p:nvPr/>
        </p:nvSpPr>
        <p:spPr>
          <a:xfrm>
            <a:off x="777240" y="1280160"/>
            <a:ext cx="75895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Si, un modelo generativo puede clasificar: calcula P(gato|imagen) y P(perro|imagen) y elige el mayor. Pero ademas puede generar nuevas imagenes de gatos o perros.</a:t>
            </a:r>
            <a:endParaRPr lang="en-US" sz="1300" dirty="0"/>
          </a:p>
        </p:txBody>
      </p:sp>
      <p:sp>
        <p:nvSpPr>
          <p:cNvPr id="8" name="Text 6"/>
          <p:cNvSpPr/>
          <p:nvPr/>
        </p:nvSpPr>
        <p:spPr>
          <a:xfrm>
            <a:off x="777240" y="1828800"/>
            <a:ext cx="7589520" cy="365760"/>
          </a:xfrm>
          <a:prstGeom prst="rect">
            <a:avLst/>
          </a:prstGeom>
          <a:noFill/>
          <a:ln/>
        </p:spPr>
        <p:txBody>
          <a:bodyPr wrap="square" lIns="0" tIns="0" rIns="0" bIns="0" rtlCol="0" anchor="ctr"/>
          <a:lstStyle/>
          <a:p>
            <a:pPr indent="0" marL="0">
              <a:buNone/>
            </a:pPr>
            <a:r>
              <a:rPr lang="en-US" sz="1300" b="1" i="1" dirty="0">
                <a:solidFill>
                  <a:srgbClr val="9F7AEA"/>
                </a:solidFill>
                <a:latin typeface="Calibri" pitchFamily="34" charset="0"/>
                <a:ea typeface="Calibri" pitchFamily="34" charset="-122"/>
                <a:cs typeface="Calibri" pitchFamily="34" charset="-120"/>
              </a:rPr>
              <a:t>La informacion adicional: sabe como "lucen" los datos, no solo donde estan los limites.</a:t>
            </a:r>
            <a:endParaRPr lang="en-US" sz="1300" dirty="0"/>
          </a:p>
        </p:txBody>
      </p:sp>
      <p:sp>
        <p:nvSpPr>
          <p:cNvPr id="9" name="Shape 7"/>
          <p:cNvSpPr/>
          <p:nvPr/>
        </p:nvSpPr>
        <p:spPr>
          <a:xfrm>
            <a:off x="548640" y="2743200"/>
            <a:ext cx="3840480" cy="2103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2743200"/>
            <a:ext cx="3840480" cy="54864"/>
          </a:xfrm>
          <a:prstGeom prst="rect">
            <a:avLst/>
          </a:prstGeom>
          <a:solidFill>
            <a:srgbClr val="2E75B6"/>
          </a:solidFill>
          <a:ln/>
        </p:spPr>
      </p:sp>
      <p:sp>
        <p:nvSpPr>
          <p:cNvPr id="11" name="Text 9"/>
          <p:cNvSpPr/>
          <p:nvPr/>
        </p:nvSpPr>
        <p:spPr>
          <a:xfrm>
            <a:off x="731520" y="2880360"/>
            <a:ext cx="3474720" cy="320040"/>
          </a:xfrm>
          <a:prstGeom prst="rect">
            <a:avLst/>
          </a:prstGeom>
          <a:noFill/>
          <a:ln/>
        </p:spPr>
        <p:txBody>
          <a:bodyPr wrap="square" lIns="0" tIns="0" rIns="0" bIns="0" rtlCol="0" anchor="ctr"/>
          <a:lstStyle/>
          <a:p>
            <a:pPr indent="0" marL="0">
              <a:buNone/>
            </a:pPr>
            <a:r>
              <a:rPr lang="en-US" sz="1600" b="1" dirty="0">
                <a:solidFill>
                  <a:srgbClr val="2E75B6"/>
                </a:solidFill>
                <a:latin typeface="Georgia" pitchFamily="34" charset="0"/>
                <a:ea typeface="Georgia" pitchFamily="34" charset="-122"/>
                <a:cs typeface="Georgia" pitchFamily="34" charset="-120"/>
              </a:rPr>
              <a:t>BERT (Encoder)</a:t>
            </a:r>
            <a:endParaRPr lang="en-US" sz="1600" dirty="0"/>
          </a:p>
        </p:txBody>
      </p:sp>
      <p:sp>
        <p:nvSpPr>
          <p:cNvPr id="12" name="Text 10"/>
          <p:cNvSpPr/>
          <p:nvPr/>
        </p:nvSpPr>
        <p:spPr>
          <a:xfrm>
            <a:off x="731520" y="3291840"/>
            <a:ext cx="347472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Tipo: Discriminativo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Ve toda la secuencia (bidireccional)</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Ideal para: clasificacion, NER, QA</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Modela: P(Y|X)</a:t>
            </a:r>
            <a:endParaRPr lang="en-US" sz="1200" dirty="0"/>
          </a:p>
        </p:txBody>
      </p:sp>
      <p:sp>
        <p:nvSpPr>
          <p:cNvPr id="13" name="Shape 11"/>
          <p:cNvSpPr/>
          <p:nvPr/>
        </p:nvSpPr>
        <p:spPr>
          <a:xfrm>
            <a:off x="4754880" y="2743200"/>
            <a:ext cx="3840480" cy="21031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4754880" y="2743200"/>
            <a:ext cx="3840480" cy="54864"/>
          </a:xfrm>
          <a:prstGeom prst="rect">
            <a:avLst/>
          </a:prstGeom>
          <a:solidFill>
            <a:srgbClr val="9F7AEA"/>
          </a:solidFill>
          <a:ln/>
        </p:spPr>
      </p:sp>
      <p:sp>
        <p:nvSpPr>
          <p:cNvPr id="15" name="Text 13"/>
          <p:cNvSpPr/>
          <p:nvPr/>
        </p:nvSpPr>
        <p:spPr>
          <a:xfrm>
            <a:off x="4937760" y="2880360"/>
            <a:ext cx="3474720" cy="320040"/>
          </a:xfrm>
          <a:prstGeom prst="rect">
            <a:avLst/>
          </a:prstGeom>
          <a:noFill/>
          <a:ln/>
        </p:spPr>
        <p:txBody>
          <a:bodyPr wrap="square" lIns="0" tIns="0" rIns="0" bIns="0" rtlCol="0" anchor="ctr"/>
          <a:lstStyle/>
          <a:p>
            <a:pPr indent="0" marL="0">
              <a:buNone/>
            </a:pPr>
            <a:r>
              <a:rPr lang="en-US" sz="1600" b="1" dirty="0">
                <a:solidFill>
                  <a:srgbClr val="9F7AEA"/>
                </a:solidFill>
                <a:latin typeface="Georgia" pitchFamily="34" charset="0"/>
                <a:ea typeface="Georgia" pitchFamily="34" charset="-122"/>
                <a:cs typeface="Georgia" pitchFamily="34" charset="-120"/>
              </a:rPr>
              <a:t>GPT (Decoder)</a:t>
            </a:r>
            <a:endParaRPr lang="en-US" sz="1600" dirty="0"/>
          </a:p>
        </p:txBody>
      </p:sp>
      <p:sp>
        <p:nvSpPr>
          <p:cNvPr id="16" name="Text 14"/>
          <p:cNvSpPr/>
          <p:nvPr/>
        </p:nvSpPr>
        <p:spPr>
          <a:xfrm>
            <a:off x="4937760" y="3291840"/>
            <a:ext cx="3474720" cy="1371600"/>
          </a:xfrm>
          <a:prstGeom prst="rect">
            <a:avLst/>
          </a:prstGeom>
          <a:noFill/>
          <a:ln/>
        </p:spPr>
        <p:txBody>
          <a:bodyPr wrap="square" rtlCol="0" anchor="ctr"/>
          <a:lstStyle/>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Tipo: Generativo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Ve solo tokens anteriores (autoregresivo)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Ideal para: generacion de texto, codigo</a:t>
            </a:r>
            <a:endParaRPr lang="en-US" sz="1200" dirty="0"/>
          </a:p>
          <a:p>
            <a:pPr marL="342900" indent="-342900">
              <a:spcAft>
                <a:spcPts val="600"/>
              </a:spcAft>
              <a:buSzPct val="100000"/>
              <a:buChar char="•"/>
            </a:pPr>
            <a:r>
              <a:rPr lang="en-US" sz="1200" dirty="0">
                <a:solidFill>
                  <a:srgbClr val="2D3748"/>
                </a:solidFill>
                <a:latin typeface="Calibri" pitchFamily="34" charset="0"/>
                <a:ea typeface="Calibri" pitchFamily="34" charset="-122"/>
                <a:cs typeface="Calibri" pitchFamily="34" charset="-120"/>
              </a:rPr>
              <a:t>Modela: P(X)</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2E75B6"/>
          </a:solidFill>
          <a:ln/>
        </p:spPr>
      </p:sp>
      <p:sp>
        <p:nvSpPr>
          <p:cNvPr id="3" name="Text 1"/>
          <p:cNvSpPr/>
          <p:nvPr/>
        </p:nvSpPr>
        <p:spPr>
          <a:xfrm>
            <a:off x="548640" y="1097280"/>
            <a:ext cx="8046720" cy="365760"/>
          </a:xfrm>
          <a:prstGeom prst="rect">
            <a:avLst/>
          </a:prstGeom>
          <a:noFill/>
          <a:ln/>
        </p:spPr>
        <p:txBody>
          <a:bodyPr wrap="square" rtlCol="0" anchor="ctr"/>
          <a:lstStyle/>
          <a:p>
            <a:pPr algn="ctr" indent="0" marL="0">
              <a:buNone/>
            </a:pPr>
            <a:r>
              <a:rPr lang="en-US" sz="1400" spc="500" kern="0" dirty="0">
                <a:solidFill>
                  <a:srgbClr val="F6AD55"/>
                </a:solidFill>
                <a:latin typeface="Calibri" pitchFamily="34" charset="0"/>
                <a:ea typeface="Calibri" pitchFamily="34" charset="-122"/>
                <a:cs typeface="Calibri" pitchFamily="34" charset="-120"/>
              </a:rPr>
              <a:t>CONCEPTO 4</a:t>
            </a:r>
            <a:endParaRPr lang="en-US" sz="1400" dirty="0"/>
          </a:p>
        </p:txBody>
      </p:sp>
      <p:sp>
        <p:nvSpPr>
          <p:cNvPr id="4" name="Text 2"/>
          <p:cNvSpPr/>
          <p:nvPr/>
        </p:nvSpPr>
        <p:spPr>
          <a:xfrm>
            <a:off x="548640" y="1645920"/>
            <a:ext cx="804672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De Redes Neuronales a LLMs</a:t>
            </a:r>
            <a:endParaRPr lang="en-US" sz="3600" dirty="0"/>
          </a:p>
        </p:txBody>
      </p:sp>
      <p:sp>
        <p:nvSpPr>
          <p:cNvPr id="5" name="Text 3"/>
          <p:cNvSpPr/>
          <p:nvPr/>
        </p:nvSpPr>
        <p:spPr>
          <a:xfrm>
            <a:off x="914400" y="2560320"/>
            <a:ext cx="7315200" cy="4572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Perceptron → Redes Multicapa → CNNs → RNNs → Transformers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El Perceptron (1950s)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El bloque de construccion mas basico</a:t>
            </a:r>
            <a:endParaRPr lang="en-US" sz="1400" dirty="0"/>
          </a:p>
        </p:txBody>
      </p:sp>
      <p:sp>
        <p:nvSpPr>
          <p:cNvPr id="5" name="Shape 3"/>
          <p:cNvSpPr/>
          <p:nvPr/>
        </p:nvSpPr>
        <p:spPr>
          <a:xfrm>
            <a:off x="548640" y="1188720"/>
            <a:ext cx="457200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2011680"/>
          </a:xfrm>
          <a:prstGeom prst="rect">
            <a:avLst/>
          </a:prstGeom>
          <a:solidFill>
            <a:srgbClr val="2E75B6"/>
          </a:solidFill>
          <a:ln/>
        </p:spPr>
      </p:sp>
      <p:sp>
        <p:nvSpPr>
          <p:cNvPr id="7" name="Text 5"/>
          <p:cNvSpPr/>
          <p:nvPr/>
        </p:nvSpPr>
        <p:spPr>
          <a:xfrm>
            <a:off x="777240" y="1280160"/>
            <a:ext cx="411480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Formula</a:t>
            </a:r>
            <a:endParaRPr lang="en-US" sz="1500" dirty="0"/>
          </a:p>
        </p:txBody>
      </p:sp>
      <p:sp>
        <p:nvSpPr>
          <p:cNvPr id="8" name="Text 6"/>
          <p:cNvSpPr/>
          <p:nvPr/>
        </p:nvSpPr>
        <p:spPr>
          <a:xfrm>
            <a:off x="777240" y="1645920"/>
            <a:ext cx="4114800" cy="640080"/>
          </a:xfrm>
          <a:prstGeom prst="rect">
            <a:avLst/>
          </a:prstGeom>
          <a:noFill/>
          <a:ln/>
        </p:spPr>
        <p:txBody>
          <a:bodyPr wrap="square" lIns="0" tIns="0" rIns="0" bIns="0" rtlCol="0" anchor="ctr"/>
          <a:lstStyle/>
          <a:p>
            <a:pPr indent="0" marL="0">
              <a:buNone/>
            </a:pPr>
            <a:r>
              <a:rPr lang="en-US" sz="1400" dirty="0">
                <a:solidFill>
                  <a:srgbClr val="2E75B6"/>
                </a:solidFill>
                <a:latin typeface="Consolas" pitchFamily="34" charset="0"/>
                <a:ea typeface="Consolas" pitchFamily="34" charset="-122"/>
                <a:cs typeface="Consolas" pitchFamily="34" charset="-120"/>
              </a:rPr>
              <a:t>salida = 1  si  (w₁x₁ + w₂x₂ + b) &gt; 0</a:t>
            </a:r>
            <a:endParaRPr lang="en-US" sz="1400" dirty="0"/>
          </a:p>
          <a:p>
            <a:pPr indent="0" marL="0">
              <a:buNone/>
            </a:pPr>
            <a:r>
              <a:rPr lang="en-US" sz="1400" dirty="0">
                <a:solidFill>
                  <a:srgbClr val="2E75B6"/>
                </a:solidFill>
                <a:latin typeface="Consolas" pitchFamily="34" charset="0"/>
                <a:ea typeface="Consolas" pitchFamily="34" charset="-122"/>
                <a:cs typeface="Consolas" pitchFamily="34" charset="-120"/>
              </a:rPr>
              <a:t>salida = 0  en otro caso</a:t>
            </a:r>
            <a:endParaRPr lang="en-US" sz="1400" dirty="0"/>
          </a:p>
        </p:txBody>
      </p:sp>
      <p:sp>
        <p:nvSpPr>
          <p:cNvPr id="9" name="Text 7"/>
          <p:cNvSpPr/>
          <p:nvPr/>
        </p:nvSpPr>
        <p:spPr>
          <a:xfrm>
            <a:off x="777240" y="2377440"/>
            <a:ext cx="4114800" cy="5486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Puede resolver problemas linealmente separables (AND, OR) pero NO problemas no lineales (XOR).</a:t>
            </a:r>
            <a:endParaRPr lang="en-US" sz="1300" dirty="0"/>
          </a:p>
        </p:txBody>
      </p:sp>
      <p:sp>
        <p:nvSpPr>
          <p:cNvPr id="10" name="Shape 8"/>
          <p:cNvSpPr/>
          <p:nvPr/>
        </p:nvSpPr>
        <p:spPr>
          <a:xfrm>
            <a:off x="5486400" y="1188720"/>
            <a:ext cx="320040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5486400" y="1188720"/>
            <a:ext cx="3200400" cy="54864"/>
          </a:xfrm>
          <a:prstGeom prst="rect">
            <a:avLst/>
          </a:prstGeom>
          <a:solidFill>
            <a:srgbClr val="FC8181"/>
          </a:solidFill>
          <a:ln/>
        </p:spPr>
      </p:sp>
      <p:sp>
        <p:nvSpPr>
          <p:cNvPr id="12" name="Text 10"/>
          <p:cNvSpPr/>
          <p:nvPr/>
        </p:nvSpPr>
        <p:spPr>
          <a:xfrm>
            <a:off x="5669280" y="1371600"/>
            <a:ext cx="2834640" cy="274320"/>
          </a:xfrm>
          <a:prstGeom prst="rect">
            <a:avLst/>
          </a:prstGeom>
          <a:noFill/>
          <a:ln/>
        </p:spPr>
        <p:txBody>
          <a:bodyPr wrap="square" lIns="0" tIns="0" rIns="0" bIns="0" rtlCol="0" anchor="ctr"/>
          <a:lstStyle/>
          <a:p>
            <a:pPr indent="0" marL="0">
              <a:buNone/>
            </a:pPr>
            <a:r>
              <a:rPr lang="en-US" sz="1400" b="1" dirty="0">
                <a:solidFill>
                  <a:srgbClr val="FC8181"/>
                </a:solidFill>
                <a:latin typeface="Georgia" pitchFamily="34" charset="0"/>
                <a:ea typeface="Georgia" pitchFamily="34" charset="-122"/>
                <a:cs typeface="Georgia" pitchFamily="34" charset="-120"/>
              </a:rPr>
              <a:t>El Problema XOR</a:t>
            </a:r>
            <a:endParaRPr lang="en-US" sz="1400" dirty="0"/>
          </a:p>
        </p:txBody>
      </p:sp>
      <p:sp>
        <p:nvSpPr>
          <p:cNvPr id="13" name="Text 11"/>
          <p:cNvSpPr/>
          <p:nvPr/>
        </p:nvSpPr>
        <p:spPr>
          <a:xfrm>
            <a:off x="5669280" y="1737360"/>
            <a:ext cx="2834640" cy="640080"/>
          </a:xfrm>
          <a:prstGeom prst="rect">
            <a:avLst/>
          </a:prstGeom>
          <a:noFill/>
          <a:ln/>
        </p:spPr>
        <p:txBody>
          <a:bodyPr wrap="square" lIns="0" tIns="0" rIns="0" bIns="0" rtlCol="0" anchor="ctr"/>
          <a:lstStyle/>
          <a:p>
            <a:pPr indent="0" marL="0">
              <a:buNone/>
            </a:pPr>
            <a:r>
              <a:rPr lang="en-US" sz="1400" dirty="0">
                <a:solidFill>
                  <a:srgbClr val="2D3748"/>
                </a:solidFill>
                <a:latin typeface="Consolas" pitchFamily="34" charset="0"/>
                <a:ea typeface="Consolas" pitchFamily="34" charset="-122"/>
                <a:cs typeface="Consolas" pitchFamily="34" charset="-120"/>
              </a:rPr>
              <a:t>(0,0)→0  (0,1)→1</a:t>
            </a:r>
            <a:endParaRPr lang="en-US" sz="1400" dirty="0"/>
          </a:p>
          <a:p>
            <a:pPr indent="0" marL="0">
              <a:buNone/>
            </a:pPr>
            <a:r>
              <a:rPr lang="en-US" sz="1400" dirty="0">
                <a:solidFill>
                  <a:srgbClr val="2D3748"/>
                </a:solidFill>
                <a:latin typeface="Consolas" pitchFamily="34" charset="0"/>
                <a:ea typeface="Consolas" pitchFamily="34" charset="-122"/>
                <a:cs typeface="Consolas" pitchFamily="34" charset="-120"/>
              </a:rPr>
              <a:t>(1,0)→1  (1,1)→0</a:t>
            </a:r>
            <a:endParaRPr lang="en-US" sz="1400" dirty="0"/>
          </a:p>
        </p:txBody>
      </p:sp>
      <p:sp>
        <p:nvSpPr>
          <p:cNvPr id="14" name="Text 12"/>
          <p:cNvSpPr/>
          <p:nvPr/>
        </p:nvSpPr>
        <p:spPr>
          <a:xfrm>
            <a:off x="5669280" y="2468880"/>
            <a:ext cx="2834640" cy="457200"/>
          </a:xfrm>
          <a:prstGeom prst="rect">
            <a:avLst/>
          </a:prstGeom>
          <a:noFill/>
          <a:ln/>
        </p:spPr>
        <p:txBody>
          <a:bodyPr wrap="square" lIns="0" tIns="0" rIns="0" bIns="0" rtlCol="0" anchor="ctr"/>
          <a:lstStyle/>
          <a:p>
            <a:pPr indent="0" marL="0">
              <a:buNone/>
            </a:pPr>
            <a:r>
              <a:rPr lang="en-US" sz="1100" i="1" dirty="0">
                <a:solidFill>
                  <a:srgbClr val="FC8181"/>
                </a:solidFill>
                <a:latin typeface="Calibri" pitchFamily="34" charset="0"/>
                <a:ea typeface="Calibri" pitchFamily="34" charset="-122"/>
                <a:cs typeface="Calibri" pitchFamily="34" charset="-120"/>
              </a:rPr>
              <a:t>No existe una linea recta que separe las clases correctamente.</a:t>
            </a:r>
            <a:endParaRPr lang="en-US" sz="1100" dirty="0"/>
          </a:p>
        </p:txBody>
      </p:sp>
      <p:sp>
        <p:nvSpPr>
          <p:cNvPr id="15" name="Shape 13"/>
          <p:cNvSpPr/>
          <p:nvPr/>
        </p:nvSpPr>
        <p:spPr>
          <a:xfrm>
            <a:off x="548640" y="3474720"/>
            <a:ext cx="80467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548640" y="3474720"/>
            <a:ext cx="8046720" cy="54864"/>
          </a:xfrm>
          <a:prstGeom prst="rect">
            <a:avLst/>
          </a:prstGeom>
          <a:solidFill>
            <a:srgbClr val="48BB78"/>
          </a:solidFill>
          <a:ln/>
        </p:spPr>
      </p:sp>
      <p:sp>
        <p:nvSpPr>
          <p:cNvPr id="17" name="Text 15"/>
          <p:cNvSpPr/>
          <p:nvPr/>
        </p:nvSpPr>
        <p:spPr>
          <a:xfrm>
            <a:off x="777240" y="3611880"/>
            <a:ext cx="7589520" cy="32004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La Solucion: Redes Multicapa (MLPs)</a:t>
            </a:r>
            <a:endParaRPr lang="en-US" sz="1600" dirty="0"/>
          </a:p>
        </p:txBody>
      </p:sp>
      <p:sp>
        <p:nvSpPr>
          <p:cNvPr id="18" name="Text 16"/>
          <p:cNvSpPr/>
          <p:nvPr/>
        </p:nvSpPr>
        <p:spPr>
          <a:xfrm>
            <a:off x="777240" y="4023360"/>
            <a:ext cx="7589520" cy="6400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Multiples capas con funciones de activacion no lineales (ReLU, sigmoid) permiten aprender fronteras de decision complejas. Cada capa transforma el espacio de representacion, haciendo linealmente separable lo que antes no lo era.</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Backpropagation: Como Aprenden las Redes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El algoritmo fundamental del deep learning</a:t>
            </a:r>
            <a:endParaRPr lang="en-US" sz="1400" dirty="0"/>
          </a:p>
        </p:txBody>
      </p:sp>
      <p:sp>
        <p:nvSpPr>
          <p:cNvPr id="5" name="Shape 3"/>
          <p:cNvSpPr/>
          <p:nvPr/>
        </p:nvSpPr>
        <p:spPr>
          <a:xfrm>
            <a:off x="548640" y="118872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777240"/>
          </a:xfrm>
          <a:prstGeom prst="rect">
            <a:avLst/>
          </a:prstGeom>
          <a:solidFill>
            <a:srgbClr val="2E75B6"/>
          </a:solidFill>
          <a:ln/>
        </p:spPr>
      </p:sp>
      <p:sp>
        <p:nvSpPr>
          <p:cNvPr id="7" name="Shape 5"/>
          <p:cNvSpPr/>
          <p:nvPr/>
        </p:nvSpPr>
        <p:spPr>
          <a:xfrm>
            <a:off x="777240" y="1344168"/>
            <a:ext cx="457200" cy="457200"/>
          </a:xfrm>
          <a:prstGeom prst="ellipse">
            <a:avLst/>
          </a:prstGeom>
          <a:solidFill>
            <a:srgbClr val="2E75B6"/>
          </a:solidFill>
          <a:ln/>
        </p:spPr>
      </p:sp>
      <p:sp>
        <p:nvSpPr>
          <p:cNvPr id="8" name="Text 6"/>
          <p:cNvSpPr/>
          <p:nvPr/>
        </p:nvSpPr>
        <p:spPr>
          <a:xfrm>
            <a:off x="777240" y="1344168"/>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1417320" y="1298448"/>
            <a:ext cx="2743200" cy="27432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Forward Pass</a:t>
            </a:r>
            <a:endParaRPr lang="en-US" sz="1600" dirty="0"/>
          </a:p>
        </p:txBody>
      </p:sp>
      <p:sp>
        <p:nvSpPr>
          <p:cNvPr id="10" name="Text 8"/>
          <p:cNvSpPr/>
          <p:nvPr/>
        </p:nvSpPr>
        <p:spPr>
          <a:xfrm>
            <a:off x="1417320" y="1600200"/>
            <a:ext cx="6858000" cy="2743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Alimenta datos a traves de la red, capa por capa</a:t>
            </a:r>
            <a:endParaRPr lang="en-US" sz="1300" dirty="0"/>
          </a:p>
        </p:txBody>
      </p:sp>
      <p:sp>
        <p:nvSpPr>
          <p:cNvPr id="11" name="Shape 9"/>
          <p:cNvSpPr/>
          <p:nvPr/>
        </p:nvSpPr>
        <p:spPr>
          <a:xfrm>
            <a:off x="548640" y="210312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548640" y="2103120"/>
            <a:ext cx="54864" cy="777240"/>
          </a:xfrm>
          <a:prstGeom prst="rect">
            <a:avLst/>
          </a:prstGeom>
          <a:solidFill>
            <a:srgbClr val="ED8936"/>
          </a:solidFill>
          <a:ln/>
        </p:spPr>
      </p:sp>
      <p:sp>
        <p:nvSpPr>
          <p:cNvPr id="13" name="Shape 11"/>
          <p:cNvSpPr/>
          <p:nvPr/>
        </p:nvSpPr>
        <p:spPr>
          <a:xfrm>
            <a:off x="777240" y="2258568"/>
            <a:ext cx="457200" cy="457200"/>
          </a:xfrm>
          <a:prstGeom prst="ellipse">
            <a:avLst/>
          </a:prstGeom>
          <a:solidFill>
            <a:srgbClr val="ED8936"/>
          </a:solidFill>
          <a:ln/>
        </p:spPr>
      </p:sp>
      <p:sp>
        <p:nvSpPr>
          <p:cNvPr id="14" name="Text 12"/>
          <p:cNvSpPr/>
          <p:nvPr/>
        </p:nvSpPr>
        <p:spPr>
          <a:xfrm>
            <a:off x="777240" y="2258568"/>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5" name="Text 13"/>
          <p:cNvSpPr/>
          <p:nvPr/>
        </p:nvSpPr>
        <p:spPr>
          <a:xfrm>
            <a:off x="1417320" y="2212848"/>
            <a:ext cx="2743200" cy="27432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Calcula Error</a:t>
            </a:r>
            <a:endParaRPr lang="en-US" sz="1600" dirty="0"/>
          </a:p>
        </p:txBody>
      </p:sp>
      <p:sp>
        <p:nvSpPr>
          <p:cNvPr id="16" name="Text 14"/>
          <p:cNvSpPr/>
          <p:nvPr/>
        </p:nvSpPr>
        <p:spPr>
          <a:xfrm>
            <a:off x="1417320" y="2514600"/>
            <a:ext cx="6858000" cy="2743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Mide cuanto se equivoco la prediccion (loss function)</a:t>
            </a:r>
            <a:endParaRPr lang="en-US" sz="1300" dirty="0"/>
          </a:p>
        </p:txBody>
      </p:sp>
      <p:sp>
        <p:nvSpPr>
          <p:cNvPr id="17" name="Shape 15"/>
          <p:cNvSpPr/>
          <p:nvPr/>
        </p:nvSpPr>
        <p:spPr>
          <a:xfrm>
            <a:off x="548640" y="301752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548640" y="3017520"/>
            <a:ext cx="54864" cy="777240"/>
          </a:xfrm>
          <a:prstGeom prst="rect">
            <a:avLst/>
          </a:prstGeom>
          <a:solidFill>
            <a:srgbClr val="9F7AEA"/>
          </a:solidFill>
          <a:ln/>
        </p:spPr>
      </p:sp>
      <p:sp>
        <p:nvSpPr>
          <p:cNvPr id="19" name="Shape 17"/>
          <p:cNvSpPr/>
          <p:nvPr/>
        </p:nvSpPr>
        <p:spPr>
          <a:xfrm>
            <a:off x="777240" y="3172968"/>
            <a:ext cx="457200" cy="457200"/>
          </a:xfrm>
          <a:prstGeom prst="ellipse">
            <a:avLst/>
          </a:prstGeom>
          <a:solidFill>
            <a:srgbClr val="9F7AEA"/>
          </a:solidFill>
          <a:ln/>
        </p:spPr>
      </p:sp>
      <p:sp>
        <p:nvSpPr>
          <p:cNvPr id="20" name="Text 18"/>
          <p:cNvSpPr/>
          <p:nvPr/>
        </p:nvSpPr>
        <p:spPr>
          <a:xfrm>
            <a:off x="777240" y="3172968"/>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21" name="Text 19"/>
          <p:cNvSpPr/>
          <p:nvPr/>
        </p:nvSpPr>
        <p:spPr>
          <a:xfrm>
            <a:off x="1417320" y="3127248"/>
            <a:ext cx="2743200" cy="27432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Backward Pass</a:t>
            </a:r>
            <a:endParaRPr lang="en-US" sz="1600" dirty="0"/>
          </a:p>
        </p:txBody>
      </p:sp>
      <p:sp>
        <p:nvSpPr>
          <p:cNvPr id="22" name="Text 20"/>
          <p:cNvSpPr/>
          <p:nvPr/>
        </p:nvSpPr>
        <p:spPr>
          <a:xfrm>
            <a:off x="1417320" y="3429000"/>
            <a:ext cx="6858000" cy="2743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Propaga el error hacia atras, calculando gradientes</a:t>
            </a:r>
            <a:endParaRPr lang="en-US" sz="1300" dirty="0"/>
          </a:p>
        </p:txBody>
      </p:sp>
      <p:sp>
        <p:nvSpPr>
          <p:cNvPr id="23" name="Shape 21"/>
          <p:cNvSpPr/>
          <p:nvPr/>
        </p:nvSpPr>
        <p:spPr>
          <a:xfrm>
            <a:off x="548640" y="3931920"/>
            <a:ext cx="8046720" cy="777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4" name="Shape 22"/>
          <p:cNvSpPr/>
          <p:nvPr/>
        </p:nvSpPr>
        <p:spPr>
          <a:xfrm>
            <a:off x="548640" y="3931920"/>
            <a:ext cx="54864" cy="777240"/>
          </a:xfrm>
          <a:prstGeom prst="rect">
            <a:avLst/>
          </a:prstGeom>
          <a:solidFill>
            <a:srgbClr val="48BB78"/>
          </a:solidFill>
          <a:ln/>
        </p:spPr>
      </p:sp>
      <p:sp>
        <p:nvSpPr>
          <p:cNvPr id="25" name="Shape 23"/>
          <p:cNvSpPr/>
          <p:nvPr/>
        </p:nvSpPr>
        <p:spPr>
          <a:xfrm>
            <a:off x="777240" y="4087368"/>
            <a:ext cx="457200" cy="457200"/>
          </a:xfrm>
          <a:prstGeom prst="ellipse">
            <a:avLst/>
          </a:prstGeom>
          <a:solidFill>
            <a:srgbClr val="48BB78"/>
          </a:solidFill>
          <a:ln/>
        </p:spPr>
      </p:sp>
      <p:sp>
        <p:nvSpPr>
          <p:cNvPr id="26" name="Text 24"/>
          <p:cNvSpPr/>
          <p:nvPr/>
        </p:nvSpPr>
        <p:spPr>
          <a:xfrm>
            <a:off x="777240" y="4087368"/>
            <a:ext cx="45720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7" name="Text 25"/>
          <p:cNvSpPr/>
          <p:nvPr/>
        </p:nvSpPr>
        <p:spPr>
          <a:xfrm>
            <a:off x="1417320" y="4041648"/>
            <a:ext cx="2743200" cy="274320"/>
          </a:xfrm>
          <a:prstGeom prst="rect">
            <a:avLst/>
          </a:prstGeom>
          <a:noFill/>
          <a:ln/>
        </p:spPr>
        <p:txBody>
          <a:bodyPr wrap="square" lIns="0" tIns="0" rIns="0" bIns="0" rtlCol="0" anchor="ctr"/>
          <a:lstStyle/>
          <a:p>
            <a:pPr indent="0" marL="0">
              <a:buNone/>
            </a:pPr>
            <a:r>
              <a:rPr lang="en-US" sz="1600" b="1" dirty="0">
                <a:solidFill>
                  <a:srgbClr val="003366"/>
                </a:solidFill>
                <a:latin typeface="Georgia" pitchFamily="34" charset="0"/>
                <a:ea typeface="Georgia" pitchFamily="34" charset="-122"/>
                <a:cs typeface="Georgia" pitchFamily="34" charset="-120"/>
              </a:rPr>
              <a:t>Actualizacion</a:t>
            </a:r>
            <a:endParaRPr lang="en-US" sz="1600" dirty="0"/>
          </a:p>
        </p:txBody>
      </p:sp>
      <p:sp>
        <p:nvSpPr>
          <p:cNvPr id="28" name="Text 26"/>
          <p:cNvSpPr/>
          <p:nvPr/>
        </p:nvSpPr>
        <p:spPr>
          <a:xfrm>
            <a:off x="1417320" y="4343400"/>
            <a:ext cx="6858000" cy="2743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Ajusta pesos: W = W - lr × gradiente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Si el gradiente descendente es como "bajar una montana a ciegas", ¿que pasa si la montana tiene multiples valles (minimos locales)?</a:t>
            </a:r>
            <a:endParaRPr lang="en-US" sz="1800" dirty="0"/>
          </a:p>
        </p:txBody>
      </p:sp>
      <p:sp>
        <p:nvSpPr>
          <p:cNvPr id="5" name="Text 2"/>
          <p:cNvSpPr/>
          <p:nvPr/>
        </p:nvSpPr>
        <p:spPr>
          <a:xfrm>
            <a:off x="1371600" y="3200400"/>
            <a:ext cx="6400800" cy="45720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¿Como ayuda el SGD (mini-batches) a evitar quedar atrapado?</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Redes Convolucionales (CNNs)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Especializadas para vision por computadora</a:t>
            </a:r>
            <a:endParaRPr lang="en-US" sz="1400" dirty="0"/>
          </a:p>
        </p:txBody>
      </p:sp>
      <p:sp>
        <p:nvSpPr>
          <p:cNvPr id="5" name="Shape 3"/>
          <p:cNvSpPr/>
          <p:nvPr/>
        </p:nvSpPr>
        <p:spPr>
          <a:xfrm>
            <a:off x="548640" y="1188720"/>
            <a:ext cx="502920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2286000"/>
          </a:xfrm>
          <a:prstGeom prst="rect">
            <a:avLst/>
          </a:prstGeom>
          <a:solidFill>
            <a:srgbClr val="2E75B6"/>
          </a:solidFill>
          <a:ln/>
        </p:spPr>
      </p:sp>
      <p:sp>
        <p:nvSpPr>
          <p:cNvPr id="7" name="Text 5"/>
          <p:cNvSpPr/>
          <p:nvPr/>
        </p:nvSpPr>
        <p:spPr>
          <a:xfrm>
            <a:off x="777240" y="1280160"/>
            <a:ext cx="457200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¿Como funcionan?</a:t>
            </a:r>
            <a:endParaRPr lang="en-US" sz="1500" dirty="0"/>
          </a:p>
        </p:txBody>
      </p:sp>
      <p:sp>
        <p:nvSpPr>
          <p:cNvPr id="8" name="Text 6"/>
          <p:cNvSpPr/>
          <p:nvPr/>
        </p:nvSpPr>
        <p:spPr>
          <a:xfrm>
            <a:off x="777240" y="1645920"/>
            <a:ext cx="4572000" cy="320040"/>
          </a:xfrm>
          <a:prstGeom prst="rect">
            <a:avLst/>
          </a:prstGeom>
          <a:noFill/>
          <a:ln/>
        </p:spPr>
        <p:txBody>
          <a:bodyPr wrap="square" lIns="0" tIns="0" rIns="0" bIns="0" rtlCol="0" anchor="ctr"/>
          <a:lstStyle/>
          <a:p>
            <a:pPr indent="0" marL="0">
              <a:buNone/>
            </a:pPr>
            <a:r>
              <a:rPr lang="en-US" sz="1300" dirty="0">
                <a:solidFill>
                  <a:srgbClr val="2E75B6"/>
                </a:solidFill>
                <a:latin typeface="Consolas" pitchFamily="34" charset="0"/>
                <a:ea typeface="Consolas" pitchFamily="34" charset="-122"/>
                <a:cs typeface="Consolas" pitchFamily="34" charset="-120"/>
              </a:rPr>
              <a:t>Imagen → Filtros Conv. → Pooling → FC → Prediccion</a:t>
            </a:r>
            <a:endParaRPr lang="en-US" sz="1300" dirty="0"/>
          </a:p>
        </p:txBody>
      </p:sp>
      <p:sp>
        <p:nvSpPr>
          <p:cNvPr id="9" name="Text 7"/>
          <p:cNvSpPr/>
          <p:nvPr/>
        </p:nvSpPr>
        <p:spPr>
          <a:xfrm>
            <a:off x="777240" y="2103120"/>
            <a:ext cx="4572000" cy="7315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Los filtros (kernels) se deslizan sobre la imagen detectando patrones locales: bordes, texturas, formas, y en capas superiores, conceptos complejos como ojos o caras.</a:t>
            </a:r>
            <a:endParaRPr lang="en-US" sz="1300" dirty="0"/>
          </a:p>
        </p:txBody>
      </p:sp>
      <p:sp>
        <p:nvSpPr>
          <p:cNvPr id="10" name="Text 8"/>
          <p:cNvSpPr/>
          <p:nvPr/>
        </p:nvSpPr>
        <p:spPr>
          <a:xfrm>
            <a:off x="777240" y="2926080"/>
            <a:ext cx="457200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AlexNet (2012) revoluciono la vision por computadora.</a:t>
            </a:r>
            <a:endParaRPr lang="en-US" sz="1200" dirty="0"/>
          </a:p>
        </p:txBody>
      </p:sp>
      <p:sp>
        <p:nvSpPr>
          <p:cNvPr id="11" name="Shape 9"/>
          <p:cNvSpPr/>
          <p:nvPr/>
        </p:nvSpPr>
        <p:spPr>
          <a:xfrm>
            <a:off x="5943600" y="1188720"/>
            <a:ext cx="2743200" cy="22860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5943600" y="1188720"/>
            <a:ext cx="2743200" cy="54864"/>
          </a:xfrm>
          <a:prstGeom prst="rect">
            <a:avLst/>
          </a:prstGeom>
          <a:solidFill>
            <a:srgbClr val="48BB78"/>
          </a:solidFill>
          <a:ln/>
        </p:spPr>
      </p:sp>
      <p:sp>
        <p:nvSpPr>
          <p:cNvPr id="13" name="Text 11"/>
          <p:cNvSpPr/>
          <p:nvPr/>
        </p:nvSpPr>
        <p:spPr>
          <a:xfrm>
            <a:off x="6126480" y="1371600"/>
            <a:ext cx="2377440" cy="274320"/>
          </a:xfrm>
          <a:prstGeom prst="rect">
            <a:avLst/>
          </a:prstGeom>
          <a:noFill/>
          <a:ln/>
        </p:spPr>
        <p:txBody>
          <a:bodyPr wrap="square" lIns="0" tIns="0" rIns="0" bIns="0" rtlCol="0" anchor="ctr"/>
          <a:lstStyle/>
          <a:p>
            <a:pPr indent="0" marL="0">
              <a:buNone/>
            </a:pPr>
            <a:r>
              <a:rPr lang="en-US" sz="1400" b="1" dirty="0">
                <a:solidFill>
                  <a:srgbClr val="48BB78"/>
                </a:solidFill>
                <a:latin typeface="Georgia" pitchFamily="34" charset="0"/>
                <a:ea typeface="Georgia" pitchFamily="34" charset="-122"/>
                <a:cs typeface="Georgia" pitchFamily="34" charset="-120"/>
              </a:rPr>
              <a:t>Ventajas</a:t>
            </a:r>
            <a:endParaRPr lang="en-US" sz="1400" dirty="0"/>
          </a:p>
        </p:txBody>
      </p:sp>
      <p:sp>
        <p:nvSpPr>
          <p:cNvPr id="14" name="Text 12"/>
          <p:cNvSpPr/>
          <p:nvPr/>
        </p:nvSpPr>
        <p:spPr>
          <a:xfrm>
            <a:off x="6126480" y="1737360"/>
            <a:ext cx="2377440" cy="1097280"/>
          </a:xfrm>
          <a:prstGeom prst="rect">
            <a:avLst/>
          </a:prstGeom>
          <a:noFill/>
          <a:ln/>
        </p:spPr>
        <p:txBody>
          <a:bodyPr wrap="square" rtlCol="0" anchor="ctr"/>
          <a:lstStyle/>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Invarianza a traslacion</a:t>
            </a:r>
            <a:endParaRPr lang="en-US" sz="1200" dirty="0"/>
          </a:p>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Eficientes en parametros (comparten pesos)</a:t>
            </a:r>
            <a:endParaRPr lang="en-US" sz="1200" dirty="0"/>
          </a:p>
          <a:p>
            <a:pPr marL="342900" indent="-342900">
              <a:spcAft>
                <a:spcPts val="800"/>
              </a:spcAft>
              <a:buSzPct val="100000"/>
              <a:buChar char="•"/>
            </a:pPr>
            <a:r>
              <a:rPr lang="en-US" sz="1200" dirty="0">
                <a:solidFill>
                  <a:srgbClr val="2D3748"/>
                </a:solidFill>
                <a:latin typeface="Calibri" pitchFamily="34" charset="0"/>
                <a:ea typeface="Calibri" pitchFamily="34" charset="-122"/>
                <a:cs typeface="Calibri" pitchFamily="34" charset="-120"/>
              </a:rPr>
              <a:t>Detectan jerarquias de features</a:t>
            </a:r>
            <a:endParaRPr lang="en-US" sz="1200" dirty="0"/>
          </a:p>
        </p:txBody>
      </p:sp>
      <p:sp>
        <p:nvSpPr>
          <p:cNvPr id="15" name="Shape 13"/>
          <p:cNvSpPr/>
          <p:nvPr/>
        </p:nvSpPr>
        <p:spPr>
          <a:xfrm>
            <a:off x="548640" y="3749040"/>
            <a:ext cx="804672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548640" y="3749040"/>
            <a:ext cx="8046720" cy="54864"/>
          </a:xfrm>
          <a:prstGeom prst="rect">
            <a:avLst/>
          </a:prstGeom>
          <a:solidFill>
            <a:srgbClr val="ED8936"/>
          </a:solidFill>
          <a:ln/>
        </p:spPr>
      </p:sp>
      <p:sp>
        <p:nvSpPr>
          <p:cNvPr id="17" name="Text 15"/>
          <p:cNvSpPr/>
          <p:nvPr/>
        </p:nvSpPr>
        <p:spPr>
          <a:xfrm>
            <a:off x="777240" y="3886200"/>
            <a:ext cx="758952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RNNs, LSTMs y el Procesamiento de Secuencias</a:t>
            </a:r>
            <a:endParaRPr lang="en-US" sz="1500" dirty="0"/>
          </a:p>
        </p:txBody>
      </p:sp>
      <p:sp>
        <p:nvSpPr>
          <p:cNvPr id="18" name="Text 16"/>
          <p:cNvSpPr/>
          <p:nvPr/>
        </p:nvSpPr>
        <p:spPr>
          <a:xfrm>
            <a:off x="777240" y="4206240"/>
            <a:ext cx="7589520" cy="5943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Para texto, audio y series de tiempo donde el orden importa. Procesan palabra por palabra manteniendo un estado de memoria. Problema: desvanecimiento de gradientes en secuencias largas. LSTMs y GRUs agregan "compuertas" para preservar informacion a largo plazo.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Autoencoders: Aprendiendo Representaciones</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La idea del encoder-decoder que llevo a los Transformers</a:t>
            </a:r>
            <a:endParaRPr lang="en-US" sz="1400" dirty="0"/>
          </a:p>
        </p:txBody>
      </p:sp>
      <p:sp>
        <p:nvSpPr>
          <p:cNvPr id="5" name="Shape 3"/>
          <p:cNvSpPr/>
          <p:nvPr/>
        </p:nvSpPr>
        <p:spPr>
          <a:xfrm>
            <a:off x="548640" y="1188720"/>
            <a:ext cx="8046720" cy="14630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463040"/>
          </a:xfrm>
          <a:prstGeom prst="rect">
            <a:avLst/>
          </a:prstGeom>
          <a:solidFill>
            <a:srgbClr val="9F7AEA"/>
          </a:solidFill>
          <a:ln/>
        </p:spPr>
      </p:sp>
      <p:sp>
        <p:nvSpPr>
          <p:cNvPr id="7" name="Text 5"/>
          <p:cNvSpPr/>
          <p:nvPr/>
        </p:nvSpPr>
        <p:spPr>
          <a:xfrm>
            <a:off x="777240" y="1280160"/>
            <a:ext cx="758952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Estructura de Reloj de Arena</a:t>
            </a:r>
            <a:endParaRPr lang="en-US" sz="1500" dirty="0"/>
          </a:p>
        </p:txBody>
      </p:sp>
      <p:sp>
        <p:nvSpPr>
          <p:cNvPr id="8" name="Text 6"/>
          <p:cNvSpPr/>
          <p:nvPr/>
        </p:nvSpPr>
        <p:spPr>
          <a:xfrm>
            <a:off x="777240" y="1645920"/>
            <a:ext cx="7589520" cy="320040"/>
          </a:xfrm>
          <a:prstGeom prst="rect">
            <a:avLst/>
          </a:prstGeom>
          <a:noFill/>
          <a:ln/>
        </p:spPr>
        <p:txBody>
          <a:bodyPr wrap="square" lIns="0" tIns="0" rIns="0" bIns="0" rtlCol="0" anchor="ctr"/>
          <a:lstStyle/>
          <a:p>
            <a:pPr indent="0" marL="0">
              <a:buNone/>
            </a:pPr>
            <a:r>
              <a:rPr lang="en-US" sz="1300" dirty="0">
                <a:solidFill>
                  <a:srgbClr val="9F7AEA"/>
                </a:solidFill>
                <a:latin typeface="Consolas" pitchFamily="34" charset="0"/>
                <a:ea typeface="Consolas" pitchFamily="34" charset="-122"/>
                <a:cs typeface="Consolas" pitchFamily="34" charset="-120"/>
              </a:rPr>
              <a:t>Entrada → [Encoder] → Representacion Latente (cuello de botella) → [Decoder] → Reconstruccion</a:t>
            </a:r>
            <a:endParaRPr lang="en-US" sz="1300" dirty="0"/>
          </a:p>
        </p:txBody>
      </p:sp>
      <p:sp>
        <p:nvSpPr>
          <p:cNvPr id="9" name="Text 7"/>
          <p:cNvSpPr/>
          <p:nvPr/>
        </p:nvSpPr>
        <p:spPr>
          <a:xfrm>
            <a:off x="777240" y="2057400"/>
            <a:ext cx="75895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La red se comprime en el medio, forzando al modelo a aprender que informacion es esencial. El objetivo: minimizar la diferencia entre input y output.</a:t>
            </a:r>
            <a:endParaRPr lang="en-US" sz="1300" dirty="0"/>
          </a:p>
        </p:txBody>
      </p:sp>
      <p:sp>
        <p:nvSpPr>
          <p:cNvPr id="10" name="Shape 8"/>
          <p:cNvSpPr/>
          <p:nvPr/>
        </p:nvSpPr>
        <p:spPr>
          <a:xfrm>
            <a:off x="548640" y="2926080"/>
            <a:ext cx="384048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1" name="Shape 9"/>
          <p:cNvSpPr/>
          <p:nvPr/>
        </p:nvSpPr>
        <p:spPr>
          <a:xfrm>
            <a:off x="548640" y="2926080"/>
            <a:ext cx="3840480" cy="54864"/>
          </a:xfrm>
          <a:prstGeom prst="rect">
            <a:avLst/>
          </a:prstGeom>
          <a:solidFill>
            <a:srgbClr val="F6AD55"/>
          </a:solidFill>
          <a:ln/>
        </p:spPr>
      </p:sp>
      <p:sp>
        <p:nvSpPr>
          <p:cNvPr id="12" name="Text 10"/>
          <p:cNvSpPr/>
          <p:nvPr/>
        </p:nvSpPr>
        <p:spPr>
          <a:xfrm>
            <a:off x="731520" y="3063240"/>
            <a:ext cx="347472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VAEs (Variacionales)</a:t>
            </a:r>
            <a:endParaRPr lang="en-US" sz="1400" dirty="0"/>
          </a:p>
        </p:txBody>
      </p:sp>
      <p:sp>
        <p:nvSpPr>
          <p:cNvPr id="13" name="Text 11"/>
          <p:cNvSpPr/>
          <p:nvPr/>
        </p:nvSpPr>
        <p:spPr>
          <a:xfrm>
            <a:off x="731520" y="3429000"/>
            <a:ext cx="3474720" cy="8229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Extienden autoencoders: el espacio latente es una distribucion (media + varianza). Permite muestrear nuevos puntos y generar datos nuevos.</a:t>
            </a:r>
            <a:endParaRPr lang="en-US" sz="1200" dirty="0"/>
          </a:p>
        </p:txBody>
      </p:sp>
      <p:sp>
        <p:nvSpPr>
          <p:cNvPr id="14" name="Shape 12"/>
          <p:cNvSpPr/>
          <p:nvPr/>
        </p:nvSpPr>
        <p:spPr>
          <a:xfrm>
            <a:off x="4754880" y="2926080"/>
            <a:ext cx="3840480" cy="192024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5" name="Shape 13"/>
          <p:cNvSpPr/>
          <p:nvPr/>
        </p:nvSpPr>
        <p:spPr>
          <a:xfrm>
            <a:off x="4754880" y="2926080"/>
            <a:ext cx="3840480" cy="54864"/>
          </a:xfrm>
          <a:prstGeom prst="rect">
            <a:avLst/>
          </a:prstGeom>
          <a:solidFill>
            <a:srgbClr val="2E75B6"/>
          </a:solidFill>
          <a:ln/>
        </p:spPr>
      </p:sp>
      <p:sp>
        <p:nvSpPr>
          <p:cNvPr id="16" name="Text 14"/>
          <p:cNvSpPr/>
          <p:nvPr/>
        </p:nvSpPr>
        <p:spPr>
          <a:xfrm>
            <a:off x="4937760" y="3063240"/>
            <a:ext cx="347472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Conexion con Transformers</a:t>
            </a:r>
            <a:endParaRPr lang="en-US" sz="1400" dirty="0"/>
          </a:p>
        </p:txBody>
      </p:sp>
      <p:sp>
        <p:nvSpPr>
          <p:cNvPr id="17" name="Text 15"/>
          <p:cNvSpPr/>
          <p:nvPr/>
        </p:nvSpPr>
        <p:spPr>
          <a:xfrm>
            <a:off x="4937760" y="3429000"/>
            <a:ext cx="3474720" cy="8229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El concepto encoder-decoder se traslada: BERT = encoder (comprimir), GPT = decoder (generar). No son autoencoders pero comparten la filosofia.</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Si un autoencoder aprende a comprimir imagenes de caras a solo 32 numeros y reconstruirlas, ¿que informacion captura ese "cuello de botella"?</a:t>
            </a:r>
            <a:endParaRPr lang="en-US" sz="1800" dirty="0"/>
          </a:p>
        </p:txBody>
      </p:sp>
      <p:sp>
        <p:nvSpPr>
          <p:cNvPr id="5" name="Text 2"/>
          <p:cNvSpPr/>
          <p:nvPr/>
        </p:nvSpPr>
        <p:spPr>
          <a:xfrm>
            <a:off x="1371600" y="3200400"/>
            <a:ext cx="6400800" cy="45720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¿Que pasa si cambias esos 32 numeros aleatoriamente?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Transformers: El Cambio de Juego (2017)</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"Attention Is All You Need" — Vaswani et al.</a:t>
            </a:r>
            <a:endParaRPr lang="en-US" sz="1400" dirty="0"/>
          </a:p>
        </p:txBody>
      </p:sp>
      <p:sp>
        <p:nvSpPr>
          <p:cNvPr id="5" name="Shape 3"/>
          <p:cNvSpPr/>
          <p:nvPr/>
        </p:nvSpPr>
        <p:spPr>
          <a:xfrm>
            <a:off x="548640" y="1188720"/>
            <a:ext cx="80467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1371600"/>
          </a:xfrm>
          <a:prstGeom prst="rect">
            <a:avLst/>
          </a:prstGeom>
          <a:solidFill>
            <a:srgbClr val="F6AD55"/>
          </a:solidFill>
          <a:ln/>
        </p:spPr>
      </p:sp>
      <p:sp>
        <p:nvSpPr>
          <p:cNvPr id="7" name="Text 5"/>
          <p:cNvSpPr/>
          <p:nvPr/>
        </p:nvSpPr>
        <p:spPr>
          <a:xfrm>
            <a:off x="777240" y="1280160"/>
            <a:ext cx="7589520" cy="274320"/>
          </a:xfrm>
          <a:prstGeom prst="rect">
            <a:avLst/>
          </a:prstGeom>
          <a:noFill/>
          <a:ln/>
        </p:spPr>
        <p:txBody>
          <a:bodyPr wrap="square" lIns="0" tIns="0" rIns="0" bIns="0" rtlCol="0" anchor="ctr"/>
          <a:lstStyle/>
          <a:p>
            <a:pPr indent="0" marL="0">
              <a:buNone/>
            </a:pPr>
            <a:r>
              <a:rPr lang="en-US" sz="1500" b="1" dirty="0">
                <a:solidFill>
                  <a:srgbClr val="003366"/>
                </a:solidFill>
                <a:latin typeface="Georgia" pitchFamily="34" charset="0"/>
                <a:ea typeface="Georgia" pitchFamily="34" charset="-122"/>
                <a:cs typeface="Georgia" pitchFamily="34" charset="-120"/>
              </a:rPr>
              <a:t>La Idea Clave</a:t>
            </a:r>
            <a:endParaRPr lang="en-US" sz="1500" dirty="0"/>
          </a:p>
        </p:txBody>
      </p:sp>
      <p:sp>
        <p:nvSpPr>
          <p:cNvPr id="8" name="Text 6"/>
          <p:cNvSpPr/>
          <p:nvPr/>
        </p:nvSpPr>
        <p:spPr>
          <a:xfrm>
            <a:off x="777240" y="1645920"/>
            <a:ext cx="7589520" cy="640080"/>
          </a:xfrm>
          <a:prstGeom prst="rect">
            <a:avLst/>
          </a:prstGeom>
          <a:noFill/>
          <a:ln/>
        </p:spPr>
        <p:txBody>
          <a:bodyPr wrap="square" lIns="0" tIns="0" rIns="0" bIns="0" rtlCol="0" anchor="ctr"/>
          <a:lstStyle/>
          <a:p>
            <a:pPr indent="0" marL="0">
              <a:buNone/>
            </a:pPr>
            <a:r>
              <a:rPr lang="en-US" sz="1400" dirty="0">
                <a:solidFill>
                  <a:srgbClr val="2D3748"/>
                </a:solidFill>
                <a:latin typeface="Calibri" pitchFamily="34" charset="0"/>
                <a:ea typeface="Calibri" pitchFamily="34" charset="-122"/>
                <a:cs typeface="Calibri" pitchFamily="34" charset="-120"/>
              </a:rPr>
              <a:t>En lugar de procesar palabra por palabra en orden (como las RNNs), el Transformer ve toda la secuencia simultaneamente y aprende que palabras son relevantes unas para otras mediante el mecanismo de atencion.</a:t>
            </a:r>
            <a:endParaRPr lang="en-US" sz="1400" dirty="0"/>
          </a:p>
        </p:txBody>
      </p:sp>
      <p:sp>
        <p:nvSpPr>
          <p:cNvPr id="9" name="Shape 7"/>
          <p:cNvSpPr/>
          <p:nvPr/>
        </p:nvSpPr>
        <p:spPr>
          <a:xfrm>
            <a:off x="548640" y="2834640"/>
            <a:ext cx="25603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2834640"/>
            <a:ext cx="2560320" cy="54864"/>
          </a:xfrm>
          <a:prstGeom prst="rect">
            <a:avLst/>
          </a:prstGeom>
          <a:solidFill>
            <a:srgbClr val="2E75B6"/>
          </a:solidFill>
          <a:ln/>
        </p:spPr>
      </p:sp>
      <p:sp>
        <p:nvSpPr>
          <p:cNvPr id="11" name="Text 9"/>
          <p:cNvSpPr/>
          <p:nvPr/>
        </p:nvSpPr>
        <p:spPr>
          <a:xfrm>
            <a:off x="731520" y="3017520"/>
            <a:ext cx="2194560" cy="274320"/>
          </a:xfrm>
          <a:prstGeom prst="rect">
            <a:avLst/>
          </a:prstGeom>
          <a:noFill/>
          <a:ln/>
        </p:spPr>
        <p:txBody>
          <a:bodyPr wrap="square" lIns="0" tIns="0" rIns="0" bIns="0" rtlCol="0" anchor="ctr"/>
          <a:lstStyle/>
          <a:p>
            <a:pPr algn="ctr" indent="0" marL="0">
              <a:buNone/>
            </a:pPr>
            <a:r>
              <a:rPr lang="en-US" sz="1400" b="1" dirty="0">
                <a:solidFill>
                  <a:srgbClr val="003366"/>
                </a:solidFill>
                <a:latin typeface="Georgia" pitchFamily="34" charset="0"/>
                <a:ea typeface="Georgia" pitchFamily="34" charset="-122"/>
                <a:cs typeface="Georgia" pitchFamily="34" charset="-120"/>
              </a:rPr>
              <a:t>Paralelismo</a:t>
            </a:r>
            <a:endParaRPr lang="en-US" sz="1400" dirty="0"/>
          </a:p>
        </p:txBody>
      </p:sp>
      <p:sp>
        <p:nvSpPr>
          <p:cNvPr id="12" name="Text 10"/>
          <p:cNvSpPr/>
          <p:nvPr/>
        </p:nvSpPr>
        <p:spPr>
          <a:xfrm>
            <a:off x="731520" y="3429000"/>
            <a:ext cx="2194560" cy="73152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Procesa toda la secuencia al mismo tiempo, aprovechando GPUs</a:t>
            </a:r>
            <a:endParaRPr lang="en-US" sz="1200" dirty="0"/>
          </a:p>
        </p:txBody>
      </p:sp>
      <p:sp>
        <p:nvSpPr>
          <p:cNvPr id="13" name="Shape 11"/>
          <p:cNvSpPr/>
          <p:nvPr/>
        </p:nvSpPr>
        <p:spPr>
          <a:xfrm>
            <a:off x="3383280" y="2834640"/>
            <a:ext cx="25603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3383280" y="2834640"/>
            <a:ext cx="2560320" cy="54864"/>
          </a:xfrm>
          <a:prstGeom prst="rect">
            <a:avLst/>
          </a:prstGeom>
          <a:solidFill>
            <a:srgbClr val="48BB78"/>
          </a:solidFill>
          <a:ln/>
        </p:spPr>
      </p:sp>
      <p:sp>
        <p:nvSpPr>
          <p:cNvPr id="15" name="Text 13"/>
          <p:cNvSpPr/>
          <p:nvPr/>
        </p:nvSpPr>
        <p:spPr>
          <a:xfrm>
            <a:off x="3566160" y="3017520"/>
            <a:ext cx="2194560" cy="274320"/>
          </a:xfrm>
          <a:prstGeom prst="rect">
            <a:avLst/>
          </a:prstGeom>
          <a:noFill/>
          <a:ln/>
        </p:spPr>
        <p:txBody>
          <a:bodyPr wrap="square" lIns="0" tIns="0" rIns="0" bIns="0" rtlCol="0" anchor="ctr"/>
          <a:lstStyle/>
          <a:p>
            <a:pPr algn="ctr" indent="0" marL="0">
              <a:buNone/>
            </a:pPr>
            <a:r>
              <a:rPr lang="en-US" sz="1400" b="1" dirty="0">
                <a:solidFill>
                  <a:srgbClr val="003366"/>
                </a:solidFill>
                <a:latin typeface="Georgia" pitchFamily="34" charset="0"/>
                <a:ea typeface="Georgia" pitchFamily="34" charset="-122"/>
                <a:cs typeface="Georgia" pitchFamily="34" charset="-120"/>
              </a:rPr>
              <a:t>Escala</a:t>
            </a:r>
            <a:endParaRPr lang="en-US" sz="1400" dirty="0"/>
          </a:p>
        </p:txBody>
      </p:sp>
      <p:sp>
        <p:nvSpPr>
          <p:cNvPr id="16" name="Text 14"/>
          <p:cNvSpPr/>
          <p:nvPr/>
        </p:nvSpPr>
        <p:spPr>
          <a:xfrm>
            <a:off x="3566160" y="3429000"/>
            <a:ext cx="2194560" cy="73152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Entrena con mas datos y parametros de forma eficiente</a:t>
            </a:r>
            <a:endParaRPr lang="en-US" sz="1200" dirty="0"/>
          </a:p>
        </p:txBody>
      </p:sp>
      <p:sp>
        <p:nvSpPr>
          <p:cNvPr id="17" name="Shape 15"/>
          <p:cNvSpPr/>
          <p:nvPr/>
        </p:nvSpPr>
        <p:spPr>
          <a:xfrm>
            <a:off x="6217920" y="2834640"/>
            <a:ext cx="25603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8" name="Shape 16"/>
          <p:cNvSpPr/>
          <p:nvPr/>
        </p:nvSpPr>
        <p:spPr>
          <a:xfrm>
            <a:off x="6217920" y="2834640"/>
            <a:ext cx="2560320" cy="54864"/>
          </a:xfrm>
          <a:prstGeom prst="rect">
            <a:avLst/>
          </a:prstGeom>
          <a:solidFill>
            <a:srgbClr val="9F7AEA"/>
          </a:solidFill>
          <a:ln/>
        </p:spPr>
      </p:sp>
      <p:sp>
        <p:nvSpPr>
          <p:cNvPr id="19" name="Text 17"/>
          <p:cNvSpPr/>
          <p:nvPr/>
        </p:nvSpPr>
        <p:spPr>
          <a:xfrm>
            <a:off x="6400800" y="3017520"/>
            <a:ext cx="2194560" cy="274320"/>
          </a:xfrm>
          <a:prstGeom prst="rect">
            <a:avLst/>
          </a:prstGeom>
          <a:noFill/>
          <a:ln/>
        </p:spPr>
        <p:txBody>
          <a:bodyPr wrap="square" lIns="0" tIns="0" rIns="0" bIns="0" rtlCol="0" anchor="ctr"/>
          <a:lstStyle/>
          <a:p>
            <a:pPr algn="ctr" indent="0" marL="0">
              <a:buNone/>
            </a:pPr>
            <a:r>
              <a:rPr lang="en-US" sz="1400" b="1" dirty="0">
                <a:solidFill>
                  <a:srgbClr val="003366"/>
                </a:solidFill>
                <a:latin typeface="Georgia" pitchFamily="34" charset="0"/>
                <a:ea typeface="Georgia" pitchFamily="34" charset="-122"/>
                <a:cs typeface="Georgia" pitchFamily="34" charset="-120"/>
              </a:rPr>
              <a:t>Atencion Global</a:t>
            </a:r>
            <a:endParaRPr lang="en-US" sz="1400" dirty="0"/>
          </a:p>
        </p:txBody>
      </p:sp>
      <p:sp>
        <p:nvSpPr>
          <p:cNvPr id="20" name="Text 18"/>
          <p:cNvSpPr/>
          <p:nvPr/>
        </p:nvSpPr>
        <p:spPr>
          <a:xfrm>
            <a:off x="6400800" y="3429000"/>
            <a:ext cx="2194560" cy="73152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Captura dependencias a larga distancia sin degradacion</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92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0" y="457200"/>
            <a:ext cx="640080" cy="640080"/>
          </a:xfrm>
          <a:prstGeom prst="rect">
            <a:avLst/>
          </a:prstGeom>
        </p:spPr>
      </p:pic>
      <p:sp>
        <p:nvSpPr>
          <p:cNvPr id="3" name="Text 0"/>
          <p:cNvSpPr/>
          <p:nvPr/>
        </p:nvSpPr>
        <p:spPr>
          <a:xfrm>
            <a:off x="1828800" y="1188720"/>
            <a:ext cx="5486400" cy="4572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Reflexiona</a:t>
            </a:r>
            <a:endParaRPr lang="en-US" sz="2800" dirty="0"/>
          </a:p>
        </p:txBody>
      </p:sp>
      <p:sp>
        <p:nvSpPr>
          <p:cNvPr id="4" name="Text 1"/>
          <p:cNvSpPr/>
          <p:nvPr/>
        </p:nvSpPr>
        <p:spPr>
          <a:xfrm>
            <a:off x="1371600" y="2011680"/>
            <a:ext cx="6400800" cy="914400"/>
          </a:xfrm>
          <a:prstGeom prst="rect">
            <a:avLst/>
          </a:prstGeom>
          <a:noFill/>
          <a:ln/>
        </p:spPr>
        <p:txBody>
          <a:bodyPr wrap="square" rtlCol="0" anchor="ctr"/>
          <a:lstStyle/>
          <a:p>
            <a:pPr algn="ctr" indent="0" marL="0">
              <a:buNone/>
            </a:pPr>
            <a:r>
              <a:rPr lang="en-US" sz="1800" dirty="0">
                <a:solidFill>
                  <a:srgbClr val="4A90D9"/>
                </a:solidFill>
                <a:latin typeface="Calibri" pitchFamily="34" charset="0"/>
                <a:ea typeface="Calibri" pitchFamily="34" charset="-122"/>
                <a:cs typeface="Calibri" pitchFamily="34" charset="-120"/>
              </a:rPr>
              <a:t>Si los Transformers pueden ver toda la secuencia a la vez, ¿por que GPT genera texto una palabra a la vez (autoregresivo)?</a:t>
            </a:r>
            <a:endParaRPr lang="en-US" sz="1800" dirty="0"/>
          </a:p>
        </p:txBody>
      </p:sp>
      <p:sp>
        <p:nvSpPr>
          <p:cNvPr id="5" name="Text 2"/>
          <p:cNvSpPr/>
          <p:nvPr/>
        </p:nvSpPr>
        <p:spPr>
          <a:xfrm>
            <a:off x="1371600" y="3200400"/>
            <a:ext cx="6400800" cy="457200"/>
          </a:xfrm>
          <a:prstGeom prst="rect">
            <a:avLst/>
          </a:prstGeom>
          <a:noFill/>
          <a:ln/>
        </p:spPr>
        <p:txBody>
          <a:bodyPr wrap="square" rtlCol="0" anchor="ctr"/>
          <a:lstStyle/>
          <a:p>
            <a:pPr algn="ctr" indent="0" marL="0">
              <a:buNone/>
            </a:pPr>
            <a:r>
              <a:rPr lang="en-US" sz="1600" i="1" dirty="0">
                <a:solidFill>
                  <a:srgbClr val="F6AD55"/>
                </a:solidFill>
                <a:latin typeface="Calibri" pitchFamily="34" charset="0"/>
                <a:ea typeface="Calibri" pitchFamily="34" charset="-122"/>
                <a:cs typeface="Calibri" pitchFamily="34" charset="-120"/>
              </a:rPr>
              <a:t>Pista: ¿que pasa con la "causalidad" durante la generacion?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2E75B6"/>
          </a:solidFill>
          <a:ln/>
        </p:spPr>
      </p:sp>
      <p:sp>
        <p:nvSpPr>
          <p:cNvPr id="3" name="Text 1"/>
          <p:cNvSpPr/>
          <p:nvPr/>
        </p:nvSpPr>
        <p:spPr>
          <a:xfrm>
            <a:off x="548640" y="1097280"/>
            <a:ext cx="8046720" cy="365760"/>
          </a:xfrm>
          <a:prstGeom prst="rect">
            <a:avLst/>
          </a:prstGeom>
          <a:noFill/>
          <a:ln/>
        </p:spPr>
        <p:txBody>
          <a:bodyPr wrap="square" rtlCol="0" anchor="ctr"/>
          <a:lstStyle/>
          <a:p>
            <a:pPr algn="ctr" indent="0" marL="0">
              <a:buNone/>
            </a:pPr>
            <a:r>
              <a:rPr lang="en-US" sz="1400" spc="500" kern="0" dirty="0">
                <a:solidFill>
                  <a:srgbClr val="F6AD55"/>
                </a:solidFill>
                <a:latin typeface="Calibri" pitchFamily="34" charset="0"/>
                <a:ea typeface="Calibri" pitchFamily="34" charset="-122"/>
                <a:cs typeface="Calibri" pitchFamily="34" charset="-120"/>
              </a:rPr>
              <a:t>CONCEPTO 5</a:t>
            </a:r>
            <a:endParaRPr lang="en-US" sz="1400" dirty="0"/>
          </a:p>
        </p:txBody>
      </p:sp>
      <p:sp>
        <p:nvSpPr>
          <p:cNvPr id="4" name="Text 2"/>
          <p:cNvSpPr/>
          <p:nvPr/>
        </p:nvSpPr>
        <p:spPr>
          <a:xfrm>
            <a:off x="548640" y="1645920"/>
            <a:ext cx="8046720" cy="73152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¿Cuando Usar Cada Enfoque?</a:t>
            </a:r>
            <a:endParaRPr lang="en-US" sz="3600" dirty="0"/>
          </a:p>
        </p:txBody>
      </p:sp>
      <p:sp>
        <p:nvSpPr>
          <p:cNvPr id="5" name="Text 3"/>
          <p:cNvSpPr/>
          <p:nvPr/>
        </p:nvSpPr>
        <p:spPr>
          <a:xfrm>
            <a:off x="1371600" y="2560320"/>
            <a:ext cx="6400800" cy="457200"/>
          </a:xfrm>
          <a:prstGeom prst="rect">
            <a:avLst/>
          </a:prstGeom>
          <a:noFill/>
          <a:ln/>
        </p:spPr>
        <p:txBody>
          <a:bodyPr wrap="square" rtlCol="0" anchor="ctr"/>
          <a:lstStyle/>
          <a:p>
            <a:pPr algn="ctr" indent="0" marL="0">
              <a:buNone/>
            </a:pPr>
            <a:r>
              <a:rPr lang="en-US" sz="1600" dirty="0">
                <a:solidFill>
                  <a:srgbClr val="4A90D9"/>
                </a:solidFill>
                <a:latin typeface="Calibri" pitchFamily="34" charset="0"/>
                <a:ea typeface="Calibri" pitchFamily="34" charset="-122"/>
                <a:cs typeface="Calibri" pitchFamily="34" charset="-120"/>
              </a:rPr>
              <a:t>Clasico vs Deep Learning vs Generativo</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Guia de Decision</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Elige la herramienta correcta para el problema</a:t>
            </a:r>
            <a:endParaRPr lang="en-US" sz="1400" dirty="0"/>
          </a:p>
        </p:txBody>
      </p:sp>
      <p:sp>
        <p:nvSpPr>
          <p:cNvPr id="5" name="Shape 3"/>
          <p:cNvSpPr/>
          <p:nvPr/>
        </p:nvSpPr>
        <p:spPr>
          <a:xfrm>
            <a:off x="548640" y="1188720"/>
            <a:ext cx="256032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2560320" cy="54864"/>
          </a:xfrm>
          <a:prstGeom prst="rect">
            <a:avLst/>
          </a:prstGeom>
          <a:solidFill>
            <a:srgbClr val="2E75B6"/>
          </a:solidFill>
          <a:ln/>
        </p:spPr>
      </p:sp>
      <p:pic>
        <p:nvPicPr>
          <p:cNvPr id="7" name="Image 0" descr="preencoded.png">    </p:cNvPr>
          <p:cNvPicPr>
            <a:picLocks noChangeAspect="1"/>
          </p:cNvPicPr>
          <p:nvPr/>
        </p:nvPicPr>
        <p:blipFill>
          <a:blip r:embed="rId1"/>
          <a:stretch>
            <a:fillRect/>
          </a:stretch>
        </p:blipFill>
        <p:spPr>
          <a:xfrm>
            <a:off x="1508760" y="1371600"/>
            <a:ext cx="457200" cy="457200"/>
          </a:xfrm>
          <a:prstGeom prst="rect">
            <a:avLst/>
          </a:prstGeom>
        </p:spPr>
      </p:pic>
      <p:sp>
        <p:nvSpPr>
          <p:cNvPr id="8" name="Text 5"/>
          <p:cNvSpPr/>
          <p:nvPr/>
        </p:nvSpPr>
        <p:spPr>
          <a:xfrm>
            <a:off x="731520" y="1920240"/>
            <a:ext cx="2194560" cy="27432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ML Clasico</a:t>
            </a:r>
            <a:endParaRPr lang="en-US" sz="1600" dirty="0"/>
          </a:p>
        </p:txBody>
      </p:sp>
      <p:sp>
        <p:nvSpPr>
          <p:cNvPr id="9" name="Text 6"/>
          <p:cNvSpPr/>
          <p:nvPr/>
        </p:nvSpPr>
        <p:spPr>
          <a:xfrm>
            <a:off x="731520" y="2331720"/>
            <a:ext cx="2194560" cy="137160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Pocos datos (&lt;10K)</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Problema simple</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Interpretabilidad critica</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Recursos limitados</a:t>
            </a:r>
            <a:endParaRPr lang="en-US" sz="1100" dirty="0"/>
          </a:p>
        </p:txBody>
      </p:sp>
      <p:sp>
        <p:nvSpPr>
          <p:cNvPr id="10" name="Shape 7"/>
          <p:cNvSpPr/>
          <p:nvPr/>
        </p:nvSpPr>
        <p:spPr>
          <a:xfrm>
            <a:off x="685800" y="3840480"/>
            <a:ext cx="2286000" cy="54864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1" name="Text 8"/>
          <p:cNvSpPr/>
          <p:nvPr/>
        </p:nvSpPr>
        <p:spPr>
          <a:xfrm>
            <a:off x="731520" y="3886200"/>
            <a:ext cx="2194560" cy="457200"/>
          </a:xfrm>
          <a:prstGeom prst="rect">
            <a:avLst/>
          </a:prstGeom>
          <a:noFill/>
          <a:ln/>
        </p:spPr>
        <p:txBody>
          <a:bodyPr wrap="square" lIns="0" tIns="0" rIns="0" bIns="0" rtlCol="0" anchor="ctr"/>
          <a:lstStyle/>
          <a:p>
            <a:pPr algn="ctr" indent="0" marL="0">
              <a:buNone/>
            </a:pPr>
            <a:r>
              <a:rPr lang="en-US" sz="1000" i="1" dirty="0">
                <a:solidFill>
                  <a:srgbClr val="2E75B6"/>
                </a:solidFill>
                <a:latin typeface="Calibri" pitchFamily="34" charset="0"/>
                <a:ea typeface="Calibri" pitchFamily="34" charset="-122"/>
                <a:cs typeface="Calibri" pitchFamily="34" charset="-120"/>
              </a:rPr>
              <a:t>Predecir churn con 5 features</a:t>
            </a:r>
            <a:endParaRPr lang="en-US" sz="1000" dirty="0"/>
          </a:p>
        </p:txBody>
      </p:sp>
      <p:sp>
        <p:nvSpPr>
          <p:cNvPr id="12" name="Shape 9"/>
          <p:cNvSpPr/>
          <p:nvPr/>
        </p:nvSpPr>
        <p:spPr>
          <a:xfrm>
            <a:off x="3383280" y="1188720"/>
            <a:ext cx="256032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0"/>
          <p:cNvSpPr/>
          <p:nvPr/>
        </p:nvSpPr>
        <p:spPr>
          <a:xfrm>
            <a:off x="3383280" y="1188720"/>
            <a:ext cx="2560320" cy="54864"/>
          </a:xfrm>
          <a:prstGeom prst="rect">
            <a:avLst/>
          </a:prstGeom>
          <a:solidFill>
            <a:srgbClr val="9F7AEA"/>
          </a:solidFill>
          <a:ln/>
        </p:spPr>
      </p:sp>
      <p:pic>
        <p:nvPicPr>
          <p:cNvPr id="14" name="Image 1" descr="preencoded.png">    </p:cNvPr>
          <p:cNvPicPr>
            <a:picLocks noChangeAspect="1"/>
          </p:cNvPicPr>
          <p:nvPr/>
        </p:nvPicPr>
        <p:blipFill>
          <a:blip r:embed="rId2"/>
          <a:stretch>
            <a:fillRect/>
          </a:stretch>
        </p:blipFill>
        <p:spPr>
          <a:xfrm>
            <a:off x="4343400" y="1371600"/>
            <a:ext cx="457200" cy="457200"/>
          </a:xfrm>
          <a:prstGeom prst="rect">
            <a:avLst/>
          </a:prstGeom>
        </p:spPr>
      </p:pic>
      <p:sp>
        <p:nvSpPr>
          <p:cNvPr id="15" name="Text 11"/>
          <p:cNvSpPr/>
          <p:nvPr/>
        </p:nvSpPr>
        <p:spPr>
          <a:xfrm>
            <a:off x="3566160" y="1920240"/>
            <a:ext cx="2194560" cy="27432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Deep Learning</a:t>
            </a:r>
            <a:endParaRPr lang="en-US" sz="1600" dirty="0"/>
          </a:p>
        </p:txBody>
      </p:sp>
      <p:sp>
        <p:nvSpPr>
          <p:cNvPr id="16" name="Text 12"/>
          <p:cNvSpPr/>
          <p:nvPr/>
        </p:nvSpPr>
        <p:spPr>
          <a:xfrm>
            <a:off x="3566160" y="2331720"/>
            <a:ext cx="2194560" cy="137160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Muchos datos (&gt;100K)</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Problema complejo (img/txt)</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Acceso a GPUs</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Interpretabilidad menos critica</a:t>
            </a:r>
            <a:endParaRPr lang="en-US" sz="1100" dirty="0"/>
          </a:p>
        </p:txBody>
      </p:sp>
      <p:sp>
        <p:nvSpPr>
          <p:cNvPr id="17" name="Shape 13"/>
          <p:cNvSpPr/>
          <p:nvPr/>
        </p:nvSpPr>
        <p:spPr>
          <a:xfrm>
            <a:off x="3520440" y="3840480"/>
            <a:ext cx="2286000" cy="54864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18" name="Text 14"/>
          <p:cNvSpPr/>
          <p:nvPr/>
        </p:nvSpPr>
        <p:spPr>
          <a:xfrm>
            <a:off x="3566160" y="3886200"/>
            <a:ext cx="2194560" cy="457200"/>
          </a:xfrm>
          <a:prstGeom prst="rect">
            <a:avLst/>
          </a:prstGeom>
          <a:noFill/>
          <a:ln/>
        </p:spPr>
        <p:txBody>
          <a:bodyPr wrap="square" lIns="0" tIns="0" rIns="0" bIns="0" rtlCol="0" anchor="ctr"/>
          <a:lstStyle/>
          <a:p>
            <a:pPr algn="ctr" indent="0" marL="0">
              <a:buNone/>
            </a:pPr>
            <a:r>
              <a:rPr lang="en-US" sz="1000" i="1" dirty="0">
                <a:solidFill>
                  <a:srgbClr val="9F7AEA"/>
                </a:solidFill>
                <a:latin typeface="Calibri" pitchFamily="34" charset="0"/>
                <a:ea typeface="Calibri" pitchFamily="34" charset="-122"/>
                <a:cs typeface="Calibri" pitchFamily="34" charset="-120"/>
              </a:rPr>
              <a:t>Clasificar 1M de radiografias</a:t>
            </a:r>
            <a:endParaRPr lang="en-US" sz="1000" dirty="0"/>
          </a:p>
        </p:txBody>
      </p:sp>
      <p:sp>
        <p:nvSpPr>
          <p:cNvPr id="19" name="Shape 15"/>
          <p:cNvSpPr/>
          <p:nvPr/>
        </p:nvSpPr>
        <p:spPr>
          <a:xfrm>
            <a:off x="6217920" y="1188720"/>
            <a:ext cx="2560320" cy="3657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0" name="Shape 16"/>
          <p:cNvSpPr/>
          <p:nvPr/>
        </p:nvSpPr>
        <p:spPr>
          <a:xfrm>
            <a:off x="6217920" y="1188720"/>
            <a:ext cx="2560320" cy="54864"/>
          </a:xfrm>
          <a:prstGeom prst="rect">
            <a:avLst/>
          </a:prstGeom>
          <a:solidFill>
            <a:srgbClr val="F6AD55"/>
          </a:solidFill>
          <a:ln/>
        </p:spPr>
      </p:sp>
      <p:pic>
        <p:nvPicPr>
          <p:cNvPr id="21" name="Image 2" descr="preencoded.png">    </p:cNvPr>
          <p:cNvPicPr>
            <a:picLocks noChangeAspect="1"/>
          </p:cNvPicPr>
          <p:nvPr/>
        </p:nvPicPr>
        <p:blipFill>
          <a:blip r:embed="rId3"/>
          <a:stretch>
            <a:fillRect/>
          </a:stretch>
        </p:blipFill>
        <p:spPr>
          <a:xfrm>
            <a:off x="7178040" y="1371600"/>
            <a:ext cx="457200" cy="457200"/>
          </a:xfrm>
          <a:prstGeom prst="rect">
            <a:avLst/>
          </a:prstGeom>
        </p:spPr>
      </p:pic>
      <p:sp>
        <p:nvSpPr>
          <p:cNvPr id="22" name="Text 17"/>
          <p:cNvSpPr/>
          <p:nvPr/>
        </p:nvSpPr>
        <p:spPr>
          <a:xfrm>
            <a:off x="6400800" y="1920240"/>
            <a:ext cx="2194560" cy="274320"/>
          </a:xfrm>
          <a:prstGeom prst="rect">
            <a:avLst/>
          </a:prstGeom>
          <a:noFill/>
          <a:ln/>
        </p:spPr>
        <p:txBody>
          <a:bodyPr wrap="square" lIns="0" tIns="0" rIns="0" bIns="0" rtlCol="0" anchor="ctr"/>
          <a:lstStyle/>
          <a:p>
            <a:pPr algn="ctr" indent="0" marL="0">
              <a:buNone/>
            </a:pPr>
            <a:r>
              <a:rPr lang="en-US" sz="1600" b="1" dirty="0">
                <a:solidFill>
                  <a:srgbClr val="003366"/>
                </a:solidFill>
                <a:latin typeface="Georgia" pitchFamily="34" charset="0"/>
                <a:ea typeface="Georgia" pitchFamily="34" charset="-122"/>
                <a:cs typeface="Georgia" pitchFamily="34" charset="-120"/>
              </a:rPr>
              <a:t>Generativo</a:t>
            </a:r>
            <a:endParaRPr lang="en-US" sz="1600" dirty="0"/>
          </a:p>
        </p:txBody>
      </p:sp>
      <p:sp>
        <p:nvSpPr>
          <p:cNvPr id="23" name="Text 18"/>
          <p:cNvSpPr/>
          <p:nvPr/>
        </p:nvSpPr>
        <p:spPr>
          <a:xfrm>
            <a:off x="6400800" y="2331720"/>
            <a:ext cx="2194560" cy="1371600"/>
          </a:xfrm>
          <a:prstGeom prst="rect">
            <a:avLst/>
          </a:prstGeom>
          <a:noFill/>
          <a:ln/>
        </p:spPr>
        <p:txBody>
          <a:bodyPr wrap="square" lIns="0" tIns="0" rIns="0" bIns="0" rtlCol="0" anchor="ctr"/>
          <a:lstStyle/>
          <a:p>
            <a:pPr algn="ctr" indent="0" marL="0">
              <a:buNone/>
            </a:pPr>
            <a:r>
              <a:rPr lang="en-US" sz="1100" dirty="0">
                <a:solidFill>
                  <a:srgbClr val="2D3748"/>
                </a:solidFill>
                <a:latin typeface="Calibri" pitchFamily="34" charset="0"/>
                <a:ea typeface="Calibri" pitchFamily="34" charset="-122"/>
                <a:cs typeface="Calibri" pitchFamily="34" charset="-120"/>
              </a:rPr>
              <a:t>Generar contenido nuevo</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Versatilidad (un modelo, muchas tareas)</a:t>
            </a:r>
            <a:endParaRPr lang="en-US" sz="1100" dirty="0"/>
          </a:p>
          <a:p>
            <a:pPr algn="ctr" indent="0" marL="0">
              <a:buNone/>
            </a:pPr>
            <a:r>
              <a:rPr lang="en-US" sz="1100" dirty="0">
                <a:solidFill>
                  <a:srgbClr val="2D3748"/>
                </a:solidFill>
                <a:latin typeface="Calibri" pitchFamily="34" charset="0"/>
                <a:ea typeface="Calibri" pitchFamily="34" charset="-122"/>
                <a:cs typeface="Calibri" pitchFamily="34" charset="-120"/>
              </a:rPr>
              <a:t>Datos abundantes</a:t>
            </a:r>
            <a:endParaRPr lang="en-US" sz="1100" dirty="0"/>
          </a:p>
        </p:txBody>
      </p:sp>
      <p:sp>
        <p:nvSpPr>
          <p:cNvPr id="24" name="Shape 19"/>
          <p:cNvSpPr/>
          <p:nvPr/>
        </p:nvSpPr>
        <p:spPr>
          <a:xfrm>
            <a:off x="6355080" y="3840480"/>
            <a:ext cx="2286000" cy="548640"/>
          </a:xfrm>
          <a:prstGeom prst="rect">
            <a:avLst/>
          </a:prstGeom>
          <a:solidFill>
            <a:srgbClr val="F0F4F8"/>
          </a:solidFill>
          <a:ln/>
          <a:effectLst>
            <a:outerShdw sx="100000" sy="100000" kx="0" ky="0" algn="bl" rotWithShape="0" blurRad="76200" dist="25400" dir="8100000">
              <a:srgbClr val="000000">
                <a:alpha val="12000"/>
              </a:srgbClr>
            </a:outerShdw>
          </a:effectLst>
        </p:spPr>
      </p:sp>
      <p:sp>
        <p:nvSpPr>
          <p:cNvPr id="25" name="Text 20"/>
          <p:cNvSpPr/>
          <p:nvPr/>
        </p:nvSpPr>
        <p:spPr>
          <a:xfrm>
            <a:off x="6400800" y="3886200"/>
            <a:ext cx="2194560" cy="457200"/>
          </a:xfrm>
          <a:prstGeom prst="rect">
            <a:avLst/>
          </a:prstGeom>
          <a:noFill/>
          <a:ln/>
        </p:spPr>
        <p:txBody>
          <a:bodyPr wrap="square" lIns="0" tIns="0" rIns="0" bIns="0" rtlCol="0" anchor="ctr"/>
          <a:lstStyle/>
          <a:p>
            <a:pPr algn="ctr" indent="0" marL="0">
              <a:buNone/>
            </a:pPr>
            <a:r>
              <a:rPr lang="en-US" sz="1000" i="1" dirty="0">
                <a:solidFill>
                  <a:srgbClr val="F6AD55"/>
                </a:solidFill>
                <a:latin typeface="Calibri" pitchFamily="34" charset="0"/>
                <a:ea typeface="Calibri" pitchFamily="34" charset="-122"/>
                <a:cs typeface="Calibri" pitchFamily="34" charset="-120"/>
              </a:rPr>
              <a:t>Chatbot que resume, traduce y genera codigo</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Ejercicio Practico 1</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Identifica el paradigma correcto</a:t>
            </a:r>
            <a:endParaRPr lang="en-US" sz="1400" dirty="0"/>
          </a:p>
        </p:txBody>
      </p:sp>
      <p:sp>
        <p:nvSpPr>
          <p:cNvPr id="5" name="Shape 3"/>
          <p:cNvSpPr/>
          <p:nvPr/>
        </p:nvSpPr>
        <p:spPr>
          <a:xfrm>
            <a:off x="548640" y="1188720"/>
            <a:ext cx="8046720" cy="3474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3474720"/>
          </a:xfrm>
          <a:prstGeom prst="rect">
            <a:avLst/>
          </a:prstGeom>
          <a:solidFill>
            <a:srgbClr val="2E75B6"/>
          </a:solidFill>
          <a:ln/>
        </p:spPr>
      </p:sp>
      <p:sp>
        <p:nvSpPr>
          <p:cNvPr id="7" name="Text 5"/>
          <p:cNvSpPr/>
          <p:nvPr/>
        </p:nvSpPr>
        <p:spPr>
          <a:xfrm>
            <a:off x="777240" y="1280160"/>
            <a:ext cx="7589520" cy="32004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Para cada problema, decide: ¿ML Clasico, Deep Learning o Generativo?</a:t>
            </a:r>
            <a:endParaRPr lang="en-US" sz="1400" dirty="0"/>
          </a:p>
        </p:txBody>
      </p:sp>
      <p:sp>
        <p:nvSpPr>
          <p:cNvPr id="8" name="Text 6"/>
          <p:cNvSpPr/>
          <p:nvPr/>
        </p:nvSpPr>
        <p:spPr>
          <a:xfrm>
            <a:off x="777240" y="1737360"/>
            <a:ext cx="7589520" cy="2743200"/>
          </a:xfrm>
          <a:prstGeom prst="rect">
            <a:avLst/>
          </a:prstGeom>
          <a:noFill/>
          <a:ln/>
        </p:spPr>
        <p:txBody>
          <a:bodyPr wrap="square" rtlCol="0" anchor="ctr"/>
          <a:lstStyle/>
          <a:p>
            <a:pPr indent="0" marL="0">
              <a:spcAft>
                <a:spcPts val="200"/>
              </a:spcAft>
              <a:buNone/>
            </a:pPr>
            <a:r>
              <a:rPr lang="en-US" sz="1300" dirty="0">
                <a:solidFill>
                  <a:srgbClr val="2D3748"/>
                </a:solidFill>
                <a:latin typeface="Calibri" pitchFamily="34" charset="0"/>
                <a:ea typeface="Calibri" pitchFamily="34" charset="-122"/>
                <a:cs typeface="Calibri" pitchFamily="34" charset="-120"/>
              </a:rPr>
              <a:t>1. Diagnostico de neumonia a partir de 50,000 radiografias etiquetadas</a:t>
            </a:r>
            <a:endParaRPr lang="en-US" sz="1300" dirty="0"/>
          </a:p>
          <a:p>
            <a:pPr indent="0" marL="0">
              <a:spcAft>
                <a:spcPts val="200"/>
              </a:spcAft>
              <a:buNone/>
            </a:pPr>
            <a:endParaRPr lang="en-US" sz="1300" dirty="0"/>
          </a:p>
          <a:p>
            <a:pPr indent="0" marL="0">
              <a:spcAft>
                <a:spcPts val="200"/>
              </a:spcAft>
              <a:buNone/>
            </a:pPr>
            <a:r>
              <a:rPr lang="en-US" sz="1300" dirty="0">
                <a:solidFill>
                  <a:srgbClr val="2D3748"/>
                </a:solidFill>
                <a:latin typeface="Calibri" pitchFamily="34" charset="0"/>
                <a:ea typeface="Calibri" pitchFamily="34" charset="-122"/>
                <a:cs typeface="Calibri" pitchFamily="34" charset="-120"/>
              </a:rPr>
              <a:t>2. Predecir si un cliente de banco pagara su prestamo (15 variables, 5,000 registros)</a:t>
            </a:r>
            <a:endParaRPr lang="en-US" sz="1300" dirty="0"/>
          </a:p>
          <a:p>
            <a:pPr indent="0" marL="0">
              <a:spcAft>
                <a:spcPts val="200"/>
              </a:spcAft>
              <a:buNone/>
            </a:pPr>
            <a:endParaRPr lang="en-US" sz="1300" dirty="0"/>
          </a:p>
          <a:p>
            <a:pPr indent="0" marL="0">
              <a:spcAft>
                <a:spcPts val="200"/>
              </a:spcAft>
              <a:buNone/>
            </a:pPr>
            <a:r>
              <a:rPr lang="en-US" sz="1300" dirty="0">
                <a:solidFill>
                  <a:srgbClr val="2D3748"/>
                </a:solidFill>
                <a:latin typeface="Calibri" pitchFamily="34" charset="0"/>
                <a:ea typeface="Calibri" pitchFamily="34" charset="-122"/>
                <a:cs typeface="Calibri" pitchFamily="34" charset="-120"/>
              </a:rPr>
              <a:t>3. Generar codigo Triton optimizado para kernels GPU a partir de descripciones en lenguaje natural</a:t>
            </a:r>
            <a:endParaRPr lang="en-US" sz="1300" dirty="0"/>
          </a:p>
          <a:p>
            <a:pPr indent="0" marL="0">
              <a:spcAft>
                <a:spcPts val="200"/>
              </a:spcAft>
              <a:buNone/>
            </a:pPr>
            <a:endParaRPr lang="en-US" sz="1300" dirty="0"/>
          </a:p>
          <a:p>
            <a:pPr indent="0" marL="0">
              <a:spcAft>
                <a:spcPts val="200"/>
              </a:spcAft>
              <a:buNone/>
            </a:pPr>
            <a:r>
              <a:rPr lang="en-US" sz="1300" dirty="0">
                <a:solidFill>
                  <a:srgbClr val="2D3748"/>
                </a:solidFill>
                <a:latin typeface="Calibri" pitchFamily="34" charset="0"/>
                <a:ea typeface="Calibri" pitchFamily="34" charset="-122"/>
                <a:cs typeface="Calibri" pitchFamily="34" charset="-120"/>
              </a:rPr>
              <a:t>4. Agrupar clientes de e-commerce por comportamiento de compra (sin etiquetas)</a:t>
            </a:r>
            <a:endParaRPr lang="en-US" sz="1300" dirty="0"/>
          </a:p>
          <a:p>
            <a:pPr indent="0" marL="0">
              <a:spcAft>
                <a:spcPts val="200"/>
              </a:spcAft>
              <a:buNone/>
            </a:pPr>
            <a:endParaRPr lang="en-US" sz="1300" dirty="0"/>
          </a:p>
          <a:p>
            <a:pPr indent="0" marL="0">
              <a:spcAft>
                <a:spcPts val="200"/>
              </a:spcAft>
              <a:buNone/>
            </a:pPr>
            <a:r>
              <a:rPr lang="en-US" sz="1300" dirty="0">
                <a:solidFill>
                  <a:srgbClr val="2D3748"/>
                </a:solidFill>
                <a:latin typeface="Calibri" pitchFamily="34" charset="0"/>
                <a:ea typeface="Calibri" pitchFamily="34" charset="-122"/>
                <a:cs typeface="Calibri" pitchFamily="34" charset="-120"/>
              </a:rPr>
              <a:t>5. Detectar fraude en transacciones bancarias en tiempo real (1M de transacciones diarias)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Ejercicio Practico 2</a:t>
            </a:r>
            <a:endParaRPr lang="en-US" sz="2800" dirty="0"/>
          </a:p>
        </p:txBody>
      </p:sp>
      <p:sp>
        <p:nvSpPr>
          <p:cNvPr id="4" name="Text 2"/>
          <p:cNvSpPr/>
          <p:nvPr/>
        </p:nvSpPr>
        <p:spPr>
          <a:xfrm>
            <a:off x="548640" y="777240"/>
            <a:ext cx="8046720" cy="320040"/>
          </a:xfrm>
          <a:prstGeom prst="rect">
            <a:avLst/>
          </a:prstGeom>
          <a:noFill/>
          <a:ln/>
        </p:spPr>
        <p:txBody>
          <a:bodyPr wrap="square" lIns="0" tIns="0" rIns="0" bIns="0" rtlCol="0" anchor="ctr"/>
          <a:lstStyle/>
          <a:p>
            <a:pPr indent="0" marL="0">
              <a:buNone/>
            </a:pPr>
            <a:r>
              <a:rPr lang="en-US" sz="1400" dirty="0">
                <a:solidFill>
                  <a:srgbClr val="718096"/>
                </a:solidFill>
                <a:latin typeface="Calibri" pitchFamily="34" charset="0"/>
                <a:ea typeface="Calibri" pitchFamily="34" charset="-122"/>
                <a:cs typeface="Calibri" pitchFamily="34" charset="-120"/>
              </a:rPr>
              <a:t>Discriminativo vs Generativo en la practica</a:t>
            </a:r>
            <a:endParaRPr lang="en-US" sz="1400" dirty="0"/>
          </a:p>
        </p:txBody>
      </p:sp>
      <p:sp>
        <p:nvSpPr>
          <p:cNvPr id="5" name="Shape 3"/>
          <p:cNvSpPr/>
          <p:nvPr/>
        </p:nvSpPr>
        <p:spPr>
          <a:xfrm>
            <a:off x="548640" y="1188720"/>
            <a:ext cx="8046720" cy="20116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188720"/>
            <a:ext cx="54864" cy="2011680"/>
          </a:xfrm>
          <a:prstGeom prst="rect">
            <a:avLst/>
          </a:prstGeom>
          <a:solidFill>
            <a:srgbClr val="9F7AEA"/>
          </a:solidFill>
          <a:ln/>
        </p:spPr>
      </p:sp>
      <p:sp>
        <p:nvSpPr>
          <p:cNvPr id="7" name="Text 5"/>
          <p:cNvSpPr/>
          <p:nvPr/>
        </p:nvSpPr>
        <p:spPr>
          <a:xfrm>
            <a:off x="777240" y="1280160"/>
            <a:ext cx="758952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Compara estos dos enfoques para el mismo problema:</a:t>
            </a:r>
            <a:endParaRPr lang="en-US" sz="1400" dirty="0"/>
          </a:p>
        </p:txBody>
      </p:sp>
      <p:sp>
        <p:nvSpPr>
          <p:cNvPr id="8" name="Text 6"/>
          <p:cNvSpPr/>
          <p:nvPr/>
        </p:nvSpPr>
        <p:spPr>
          <a:xfrm>
            <a:off x="777240" y="1645920"/>
            <a:ext cx="7589520" cy="13716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Tarea: Clasificar emails como spam o no spam</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Enfoque A (Discriminativo): Entrena un clasificador SVM con features como frecuencia de palabras</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Enfoque B (Generativo): Usa un LLM (GPT) con prompt: "¿Este email es spam? Responde si o no"</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Discute: ventajas, desventajas, costo computacional y precision esperada de cada enfoque.</a:t>
            </a:r>
            <a:endParaRPr lang="en-US" sz="1200" dirty="0"/>
          </a:p>
        </p:txBody>
      </p:sp>
      <p:sp>
        <p:nvSpPr>
          <p:cNvPr id="9" name="Shape 7"/>
          <p:cNvSpPr/>
          <p:nvPr/>
        </p:nvSpPr>
        <p:spPr>
          <a:xfrm>
            <a:off x="548640" y="3474720"/>
            <a:ext cx="8046720" cy="13716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548640" y="3474720"/>
            <a:ext cx="54864" cy="1371600"/>
          </a:xfrm>
          <a:prstGeom prst="rect">
            <a:avLst/>
          </a:prstGeom>
          <a:solidFill>
            <a:srgbClr val="F6AD55"/>
          </a:solidFill>
          <a:ln/>
        </p:spPr>
      </p:sp>
      <p:sp>
        <p:nvSpPr>
          <p:cNvPr id="11" name="Text 9"/>
          <p:cNvSpPr/>
          <p:nvPr/>
        </p:nvSpPr>
        <p:spPr>
          <a:xfrm>
            <a:off x="777240" y="3566160"/>
            <a:ext cx="758952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Reflexion escrita (250 palabras):</a:t>
            </a:r>
            <a:endParaRPr lang="en-US" sz="1400" dirty="0"/>
          </a:p>
        </p:txBody>
      </p:sp>
      <p:sp>
        <p:nvSpPr>
          <p:cNvPr id="12" name="Text 10"/>
          <p:cNvSpPr/>
          <p:nvPr/>
        </p:nvSpPr>
        <p:spPr>
          <a:xfrm>
            <a:off x="777240" y="3931920"/>
            <a:ext cx="7589520" cy="640080"/>
          </a:xfrm>
          <a:prstGeom prst="rect">
            <a:avLst/>
          </a:prstGeom>
          <a:noFill/>
          <a:ln/>
        </p:spPr>
        <p:txBody>
          <a:bodyPr wrap="square" lIns="0" tIns="0" rIns="0" bIns="0" rtlCol="0" anchor="ctr"/>
          <a:lstStyle/>
          <a:p>
            <a:pPr indent="0" marL="0">
              <a:buNone/>
            </a:pPr>
            <a:r>
              <a:rPr lang="en-US" sz="1300" i="1" dirty="0">
                <a:solidFill>
                  <a:srgbClr val="2D3748"/>
                </a:solidFill>
                <a:latin typeface="Calibri" pitchFamily="34" charset="0"/>
                <a:ea typeface="Calibri" pitchFamily="34" charset="-122"/>
                <a:cs typeface="Calibri" pitchFamily="34" charset="-120"/>
              </a:rPr>
              <a:t>"La evolucion de la IA ha sido una busqueda de metodos cada vez mas generales. ¿Crees que los LLMs son el pico de esa generalidad, o crees que veremos paradigmas aun mas generales?"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75B6"/>
          </a:solidFill>
          <a:ln/>
        </p:spPr>
      </p:sp>
      <p:sp>
        <p:nvSpPr>
          <p:cNvPr id="3" name="Text 1"/>
          <p:cNvSpPr/>
          <p:nvPr/>
        </p:nvSpPr>
        <p:spPr>
          <a:xfrm>
            <a:off x="548640" y="228600"/>
            <a:ext cx="8046720" cy="548640"/>
          </a:xfrm>
          <a:prstGeom prst="rect">
            <a:avLst/>
          </a:prstGeom>
          <a:noFill/>
          <a:ln/>
        </p:spPr>
        <p:txBody>
          <a:bodyPr wrap="square" lIns="0" tIns="0" rIns="0" bIns="0" rtlCol="0" anchor="ctr"/>
          <a:lstStyle/>
          <a:p>
            <a:pPr indent="0" marL="0">
              <a:buNone/>
            </a:pPr>
            <a:r>
              <a:rPr lang="en-US" sz="2800" b="1" dirty="0">
                <a:solidFill>
                  <a:srgbClr val="003366"/>
                </a:solidFill>
                <a:latin typeface="Georgia" pitchFamily="34" charset="0"/>
                <a:ea typeface="Georgia" pitchFamily="34" charset="-122"/>
                <a:cs typeface="Georgia" pitchFamily="34" charset="-120"/>
              </a:rPr>
              <a:t>Errores Comunes a Evitar</a:t>
            </a:r>
            <a:endParaRPr lang="en-US" sz="2800" dirty="0"/>
          </a:p>
        </p:txBody>
      </p:sp>
      <p:sp>
        <p:nvSpPr>
          <p:cNvPr id="4" name="Shape 2"/>
          <p:cNvSpPr/>
          <p:nvPr/>
        </p:nvSpPr>
        <p:spPr>
          <a:xfrm>
            <a:off x="548640" y="100584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548640" y="1005840"/>
            <a:ext cx="54864" cy="658368"/>
          </a:xfrm>
          <a:prstGeom prst="rect">
            <a:avLst/>
          </a:prstGeom>
          <a:solidFill>
            <a:srgbClr val="FC8181"/>
          </a:solidFill>
          <a:ln/>
        </p:spPr>
      </p:sp>
      <p:sp>
        <p:nvSpPr>
          <p:cNvPr id="6" name="Text 4"/>
          <p:cNvSpPr/>
          <p:nvPr/>
        </p:nvSpPr>
        <p:spPr>
          <a:xfrm>
            <a:off x="777240" y="1078992"/>
            <a:ext cx="274320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Confundir paradigmas</a:t>
            </a:r>
            <a:endParaRPr lang="en-US" sz="1400" dirty="0"/>
          </a:p>
        </p:txBody>
      </p:sp>
      <p:sp>
        <p:nvSpPr>
          <p:cNvPr id="7" name="Text 5"/>
          <p:cNvSpPr/>
          <p:nvPr/>
        </p:nvSpPr>
        <p:spPr>
          <a:xfrm>
            <a:off x="3566160" y="1078992"/>
            <a:ext cx="48463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Supervisado requiere etiquetas; no supervisado, no. No son intercambiables.</a:t>
            </a:r>
            <a:endParaRPr lang="en-US" sz="1200" dirty="0"/>
          </a:p>
        </p:txBody>
      </p:sp>
      <p:sp>
        <p:nvSpPr>
          <p:cNvPr id="8" name="Shape 6"/>
          <p:cNvSpPr/>
          <p:nvPr/>
        </p:nvSpPr>
        <p:spPr>
          <a:xfrm>
            <a:off x="548640" y="178308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9" name="Shape 7"/>
          <p:cNvSpPr/>
          <p:nvPr/>
        </p:nvSpPr>
        <p:spPr>
          <a:xfrm>
            <a:off x="548640" y="1783080"/>
            <a:ext cx="54864" cy="658368"/>
          </a:xfrm>
          <a:prstGeom prst="rect">
            <a:avLst/>
          </a:prstGeom>
          <a:solidFill>
            <a:srgbClr val="ED8936"/>
          </a:solidFill>
          <a:ln/>
        </p:spPr>
      </p:sp>
      <p:sp>
        <p:nvSpPr>
          <p:cNvPr id="10" name="Text 8"/>
          <p:cNvSpPr/>
          <p:nvPr/>
        </p:nvSpPr>
        <p:spPr>
          <a:xfrm>
            <a:off x="777240" y="1856232"/>
            <a:ext cx="274320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Mas datos ≠ mejor</a:t>
            </a:r>
            <a:endParaRPr lang="en-US" sz="1400" dirty="0"/>
          </a:p>
        </p:txBody>
      </p:sp>
      <p:sp>
        <p:nvSpPr>
          <p:cNvPr id="11" name="Text 9"/>
          <p:cNvSpPr/>
          <p:nvPr/>
        </p:nvSpPr>
        <p:spPr>
          <a:xfrm>
            <a:off x="3566160" y="1856232"/>
            <a:ext cx="48463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Sin calidad, mas datos amplifica sesgos. Garbage in, garbage out.</a:t>
            </a:r>
            <a:endParaRPr lang="en-US" sz="1200" dirty="0"/>
          </a:p>
        </p:txBody>
      </p:sp>
      <p:sp>
        <p:nvSpPr>
          <p:cNvPr id="12" name="Shape 10"/>
          <p:cNvSpPr/>
          <p:nvPr/>
        </p:nvSpPr>
        <p:spPr>
          <a:xfrm>
            <a:off x="548640" y="256032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548640" y="2560320"/>
            <a:ext cx="54864" cy="658368"/>
          </a:xfrm>
          <a:prstGeom prst="rect">
            <a:avLst/>
          </a:prstGeom>
          <a:solidFill>
            <a:srgbClr val="9F7AEA"/>
          </a:solidFill>
          <a:ln/>
        </p:spPr>
      </p:sp>
      <p:sp>
        <p:nvSpPr>
          <p:cNvPr id="14" name="Text 12"/>
          <p:cNvSpPr/>
          <p:nvPr/>
        </p:nvSpPr>
        <p:spPr>
          <a:xfrm>
            <a:off x="777240" y="2633472"/>
            <a:ext cx="274320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Deep Learning para todo</a:t>
            </a:r>
            <a:endParaRPr lang="en-US" sz="1400" dirty="0"/>
          </a:p>
        </p:txBody>
      </p:sp>
      <p:sp>
        <p:nvSpPr>
          <p:cNvPr id="15" name="Text 13"/>
          <p:cNvSpPr/>
          <p:nvPr/>
        </p:nvSpPr>
        <p:spPr>
          <a:xfrm>
            <a:off x="3566160" y="2633472"/>
            <a:ext cx="48463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Para datasets chicos (&lt;10K), Random Forest o SVM suelen funcionar mejor.</a:t>
            </a:r>
            <a:endParaRPr lang="en-US" sz="1200" dirty="0"/>
          </a:p>
        </p:txBody>
      </p:sp>
      <p:sp>
        <p:nvSpPr>
          <p:cNvPr id="16" name="Shape 14"/>
          <p:cNvSpPr/>
          <p:nvPr/>
        </p:nvSpPr>
        <p:spPr>
          <a:xfrm>
            <a:off x="548640" y="333756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5"/>
          <p:cNvSpPr/>
          <p:nvPr/>
        </p:nvSpPr>
        <p:spPr>
          <a:xfrm>
            <a:off x="548640" y="3337560"/>
            <a:ext cx="54864" cy="658368"/>
          </a:xfrm>
          <a:prstGeom prst="rect">
            <a:avLst/>
          </a:prstGeom>
          <a:solidFill>
            <a:srgbClr val="2E75B6"/>
          </a:solidFill>
          <a:ln/>
        </p:spPr>
      </p:sp>
      <p:sp>
        <p:nvSpPr>
          <p:cNvPr id="18" name="Text 16"/>
          <p:cNvSpPr/>
          <p:nvPr/>
        </p:nvSpPr>
        <p:spPr>
          <a:xfrm>
            <a:off x="777240" y="3410712"/>
            <a:ext cx="274320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Correlacion ≠ Causalidad</a:t>
            </a:r>
            <a:endParaRPr lang="en-US" sz="1400" dirty="0"/>
          </a:p>
        </p:txBody>
      </p:sp>
      <p:sp>
        <p:nvSpPr>
          <p:cNvPr id="19" name="Text 17"/>
          <p:cNvSpPr/>
          <p:nvPr/>
        </p:nvSpPr>
        <p:spPr>
          <a:xfrm>
            <a:off x="3566160" y="3410712"/>
            <a:ext cx="48463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Valida siempre en datos independientes. Un modelo puede aprender correlaciones espurias.</a:t>
            </a:r>
            <a:endParaRPr lang="en-US" sz="1200" dirty="0"/>
          </a:p>
        </p:txBody>
      </p:sp>
      <p:sp>
        <p:nvSpPr>
          <p:cNvPr id="20" name="Shape 18"/>
          <p:cNvSpPr/>
          <p:nvPr/>
        </p:nvSpPr>
        <p:spPr>
          <a:xfrm>
            <a:off x="548640" y="4114800"/>
            <a:ext cx="8046720" cy="658368"/>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1" name="Shape 19"/>
          <p:cNvSpPr/>
          <p:nvPr/>
        </p:nvSpPr>
        <p:spPr>
          <a:xfrm>
            <a:off x="548640" y="4114800"/>
            <a:ext cx="54864" cy="658368"/>
          </a:xfrm>
          <a:prstGeom prst="rect">
            <a:avLst/>
          </a:prstGeom>
          <a:solidFill>
            <a:srgbClr val="38B2AC"/>
          </a:solidFill>
          <a:ln/>
        </p:spPr>
      </p:sp>
      <p:sp>
        <p:nvSpPr>
          <p:cNvPr id="22" name="Text 20"/>
          <p:cNvSpPr/>
          <p:nvPr/>
        </p:nvSpPr>
        <p:spPr>
          <a:xfrm>
            <a:off x="777240" y="4187952"/>
            <a:ext cx="2743200" cy="274320"/>
          </a:xfrm>
          <a:prstGeom prst="rect">
            <a:avLst/>
          </a:prstGeom>
          <a:noFill/>
          <a:ln/>
        </p:spPr>
        <p:txBody>
          <a:bodyPr wrap="square" lIns="0" tIns="0" rIns="0" bIns="0" rtlCol="0" anchor="ctr"/>
          <a:lstStyle/>
          <a:p>
            <a:pPr indent="0" marL="0">
              <a:buNone/>
            </a:pPr>
            <a:r>
              <a:rPr lang="en-US" sz="1400" b="1" dirty="0">
                <a:solidFill>
                  <a:srgbClr val="003366"/>
                </a:solidFill>
                <a:latin typeface="Georgia" pitchFamily="34" charset="0"/>
                <a:ea typeface="Georgia" pitchFamily="34" charset="-122"/>
                <a:cs typeface="Georgia" pitchFamily="34" charset="-120"/>
              </a:rPr>
              <a:t>Ignorar interpretabilidad</a:t>
            </a:r>
            <a:endParaRPr lang="en-US" sz="1400" dirty="0"/>
          </a:p>
        </p:txBody>
      </p:sp>
      <p:sp>
        <p:nvSpPr>
          <p:cNvPr id="23" name="Text 21"/>
          <p:cNvSpPr/>
          <p:nvPr/>
        </p:nvSpPr>
        <p:spPr>
          <a:xfrm>
            <a:off x="3566160" y="4187952"/>
            <a:ext cx="48463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En medicina y finanzas, modelos interpretables pueden ser obligatorios.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F6AD55"/>
          </a:solidFill>
          <a:ln/>
        </p:spPr>
      </p:sp>
      <p:sp>
        <p:nvSpPr>
          <p:cNvPr id="3" name="Text 1"/>
          <p:cNvSpPr/>
          <p:nvPr/>
        </p:nvSpPr>
        <p:spPr>
          <a:xfrm>
            <a:off x="548640" y="274320"/>
            <a:ext cx="804672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Resumen — Puntos Clave</a:t>
            </a:r>
            <a:endParaRPr lang="en-US" sz="2800" dirty="0"/>
          </a:p>
        </p:txBody>
      </p:sp>
      <p:sp>
        <p:nvSpPr>
          <p:cNvPr id="4" name="Shape 2"/>
          <p:cNvSpPr/>
          <p:nvPr/>
        </p:nvSpPr>
        <p:spPr>
          <a:xfrm>
            <a:off x="548640" y="1078992"/>
            <a:ext cx="274320" cy="274320"/>
          </a:xfrm>
          <a:prstGeom prst="ellipse">
            <a:avLst/>
          </a:prstGeom>
          <a:solidFill>
            <a:srgbClr val="F6AD55"/>
          </a:solidFill>
          <a:ln/>
        </p:spPr>
      </p:sp>
      <p:sp>
        <p:nvSpPr>
          <p:cNvPr id="5" name="Text 3"/>
          <p:cNvSpPr/>
          <p:nvPr/>
        </p:nvSpPr>
        <p:spPr>
          <a:xfrm>
            <a:off x="548640" y="107899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005840" y="100584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 IA evoluciono de reglas explicitas a modelos que aprenden de datos.</a:t>
            </a:r>
            <a:endParaRPr lang="en-US" sz="1400" dirty="0"/>
          </a:p>
        </p:txBody>
      </p:sp>
      <p:sp>
        <p:nvSpPr>
          <p:cNvPr id="7" name="Shape 5"/>
          <p:cNvSpPr/>
          <p:nvPr/>
        </p:nvSpPr>
        <p:spPr>
          <a:xfrm>
            <a:off x="548640" y="1627632"/>
            <a:ext cx="274320" cy="274320"/>
          </a:xfrm>
          <a:prstGeom prst="ellipse">
            <a:avLst/>
          </a:prstGeom>
          <a:solidFill>
            <a:srgbClr val="F6AD55"/>
          </a:solidFill>
          <a:ln/>
        </p:spPr>
      </p:sp>
      <p:sp>
        <p:nvSpPr>
          <p:cNvPr id="8" name="Text 6"/>
          <p:cNvSpPr/>
          <p:nvPr/>
        </p:nvSpPr>
        <p:spPr>
          <a:xfrm>
            <a:off x="548640" y="162763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005840" y="155448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Los tres paradigmas: supervisado (etiquetas), no supervisado (estructura), refuerzo (recompensas).</a:t>
            </a:r>
            <a:endParaRPr lang="en-US" sz="1400" dirty="0"/>
          </a:p>
        </p:txBody>
      </p:sp>
      <p:sp>
        <p:nvSpPr>
          <p:cNvPr id="10" name="Shape 8"/>
          <p:cNvSpPr/>
          <p:nvPr/>
        </p:nvSpPr>
        <p:spPr>
          <a:xfrm>
            <a:off x="548640" y="2176272"/>
            <a:ext cx="274320" cy="274320"/>
          </a:xfrm>
          <a:prstGeom prst="ellipse">
            <a:avLst/>
          </a:prstGeom>
          <a:solidFill>
            <a:srgbClr val="F6AD55"/>
          </a:solidFill>
          <a:ln/>
        </p:spPr>
      </p:sp>
      <p:sp>
        <p:nvSpPr>
          <p:cNvPr id="11" name="Text 9"/>
          <p:cNvSpPr/>
          <p:nvPr/>
        </p:nvSpPr>
        <p:spPr>
          <a:xfrm>
            <a:off x="548640" y="217627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005840" y="210312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Discriminativo P(Y|X) clasifica; Generativo P(X,Y) modela distribuciones y genera contenido.</a:t>
            </a:r>
            <a:endParaRPr lang="en-US" sz="1400" dirty="0"/>
          </a:p>
        </p:txBody>
      </p:sp>
      <p:sp>
        <p:nvSpPr>
          <p:cNvPr id="13" name="Shape 11"/>
          <p:cNvSpPr/>
          <p:nvPr/>
        </p:nvSpPr>
        <p:spPr>
          <a:xfrm>
            <a:off x="548640" y="2724912"/>
            <a:ext cx="274320" cy="274320"/>
          </a:xfrm>
          <a:prstGeom prst="ellipse">
            <a:avLst/>
          </a:prstGeom>
          <a:solidFill>
            <a:srgbClr val="F6AD55"/>
          </a:solidFill>
          <a:ln/>
        </p:spPr>
      </p:sp>
      <p:sp>
        <p:nvSpPr>
          <p:cNvPr id="14" name="Text 12"/>
          <p:cNvSpPr/>
          <p:nvPr/>
        </p:nvSpPr>
        <p:spPr>
          <a:xfrm>
            <a:off x="548640" y="272491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005840" y="265176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Redes multicapa con no-linealidad superan las limitaciones del perceptron (problema XOR).</a:t>
            </a:r>
            <a:endParaRPr lang="en-US" sz="1400" dirty="0"/>
          </a:p>
        </p:txBody>
      </p:sp>
      <p:sp>
        <p:nvSpPr>
          <p:cNvPr id="16" name="Shape 14"/>
          <p:cNvSpPr/>
          <p:nvPr/>
        </p:nvSpPr>
        <p:spPr>
          <a:xfrm>
            <a:off x="548640" y="3273552"/>
            <a:ext cx="274320" cy="274320"/>
          </a:xfrm>
          <a:prstGeom prst="ellipse">
            <a:avLst/>
          </a:prstGeom>
          <a:solidFill>
            <a:srgbClr val="F6AD55"/>
          </a:solidFill>
          <a:ln/>
        </p:spPr>
      </p:sp>
      <p:sp>
        <p:nvSpPr>
          <p:cNvPr id="17" name="Text 15"/>
          <p:cNvSpPr/>
          <p:nvPr/>
        </p:nvSpPr>
        <p:spPr>
          <a:xfrm>
            <a:off x="548640" y="327355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5</a:t>
            </a:r>
            <a:endParaRPr lang="en-US" sz="1400" dirty="0"/>
          </a:p>
        </p:txBody>
      </p:sp>
      <p:sp>
        <p:nvSpPr>
          <p:cNvPr id="18" name="Text 16"/>
          <p:cNvSpPr/>
          <p:nvPr/>
        </p:nvSpPr>
        <p:spPr>
          <a:xfrm>
            <a:off x="1005840" y="320040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Los Transformers revolucionaron NLP al reemplazar recurrencia con atencion global.</a:t>
            </a:r>
            <a:endParaRPr lang="en-US" sz="1400" dirty="0"/>
          </a:p>
        </p:txBody>
      </p:sp>
      <p:sp>
        <p:nvSpPr>
          <p:cNvPr id="19" name="Shape 17"/>
          <p:cNvSpPr/>
          <p:nvPr/>
        </p:nvSpPr>
        <p:spPr>
          <a:xfrm>
            <a:off x="548640" y="3822192"/>
            <a:ext cx="274320" cy="274320"/>
          </a:xfrm>
          <a:prstGeom prst="ellipse">
            <a:avLst/>
          </a:prstGeom>
          <a:solidFill>
            <a:srgbClr val="F6AD55"/>
          </a:solidFill>
          <a:ln/>
        </p:spPr>
      </p:sp>
      <p:sp>
        <p:nvSpPr>
          <p:cNvPr id="20" name="Text 18"/>
          <p:cNvSpPr/>
          <p:nvPr/>
        </p:nvSpPr>
        <p:spPr>
          <a:xfrm>
            <a:off x="548640" y="3822192"/>
            <a:ext cx="274320" cy="274320"/>
          </a:xfrm>
          <a:prstGeom prst="rect">
            <a:avLst/>
          </a:prstGeom>
          <a:noFill/>
          <a:ln/>
        </p:spPr>
        <p:txBody>
          <a:bodyPr wrap="square" rtlCol="0" anchor="ctr"/>
          <a:lstStyle/>
          <a:p>
            <a:pPr algn="ctr" indent="0" marL="0">
              <a:buNone/>
            </a:pPr>
            <a:r>
              <a:rPr lang="en-US" sz="1400" b="1" dirty="0">
                <a:solidFill>
                  <a:srgbClr val="0A1929"/>
                </a:solidFill>
                <a:latin typeface="Georgia" pitchFamily="34" charset="0"/>
                <a:ea typeface="Georgia" pitchFamily="34" charset="-122"/>
                <a:cs typeface="Georgia" pitchFamily="34" charset="-120"/>
              </a:rPr>
              <a:t>6</a:t>
            </a:r>
            <a:endParaRPr lang="en-US" sz="1400" dirty="0"/>
          </a:p>
        </p:txBody>
      </p:sp>
      <p:sp>
        <p:nvSpPr>
          <p:cNvPr id="21" name="Text 19"/>
          <p:cNvSpPr/>
          <p:nvPr/>
        </p:nvSpPr>
        <p:spPr>
          <a:xfrm>
            <a:off x="1005840" y="3749040"/>
            <a:ext cx="758952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La eleccion depende de: cantidad de datos, complejidad, recursos e interpretabilidad.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92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6AD55"/>
          </a:solidFill>
          <a:ln/>
        </p:spPr>
      </p:sp>
      <p:sp>
        <p:nvSpPr>
          <p:cNvPr id="3" name="Text 1"/>
          <p:cNvSpPr/>
          <p:nvPr/>
        </p:nvSpPr>
        <p:spPr>
          <a:xfrm>
            <a:off x="548640" y="457200"/>
            <a:ext cx="804672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Siguiente Paso</a:t>
            </a:r>
            <a:endParaRPr lang="en-US" sz="2800" dirty="0"/>
          </a:p>
        </p:txBody>
      </p:sp>
      <p:sp>
        <p:nvSpPr>
          <p:cNvPr id="4" name="Text 2"/>
          <p:cNvSpPr/>
          <p:nvPr/>
        </p:nvSpPr>
        <p:spPr>
          <a:xfrm>
            <a:off x="548640" y="1188720"/>
            <a:ext cx="8046720" cy="457200"/>
          </a:xfrm>
          <a:prstGeom prst="rect">
            <a:avLst/>
          </a:prstGeom>
          <a:noFill/>
          <a:ln/>
        </p:spPr>
        <p:txBody>
          <a:bodyPr wrap="square" rtlCol="0" anchor="ctr"/>
          <a:lstStyle/>
          <a:p>
            <a:pPr indent="0" marL="0">
              <a:buNone/>
            </a:pPr>
            <a:r>
              <a:rPr lang="en-US" sz="2000" dirty="0">
                <a:solidFill>
                  <a:srgbClr val="F6AD55"/>
                </a:solidFill>
                <a:latin typeface="Georgia" pitchFamily="34" charset="0"/>
                <a:ea typeface="Georgia" pitchFamily="34" charset="-122"/>
                <a:cs typeface="Georgia" pitchFamily="34" charset="-120"/>
              </a:rPr>
              <a:t>Lectura 2: Fundamentos de Deep Learning</a:t>
            </a:r>
            <a:endParaRPr lang="en-US" sz="2000" dirty="0"/>
          </a:p>
        </p:txBody>
      </p:sp>
      <p:sp>
        <p:nvSpPr>
          <p:cNvPr id="5" name="Shape 3"/>
          <p:cNvSpPr/>
          <p:nvPr/>
        </p:nvSpPr>
        <p:spPr>
          <a:xfrm>
            <a:off x="548640" y="1920240"/>
            <a:ext cx="8046720" cy="18288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1920240"/>
            <a:ext cx="54864" cy="1828800"/>
          </a:xfrm>
          <a:prstGeom prst="rect">
            <a:avLst/>
          </a:prstGeom>
          <a:solidFill>
            <a:srgbClr val="F6AD55"/>
          </a:solidFill>
          <a:ln/>
        </p:spPr>
      </p:sp>
      <p:sp>
        <p:nvSpPr>
          <p:cNvPr id="7" name="Text 5"/>
          <p:cNvSpPr/>
          <p:nvPr/>
        </p:nvSpPr>
        <p:spPr>
          <a:xfrm>
            <a:off x="777240" y="2011680"/>
            <a:ext cx="7589520" cy="1554480"/>
          </a:xfrm>
          <a:prstGeom prst="rect">
            <a:avLst/>
          </a:prstGeom>
          <a:noFill/>
          <a:ln/>
        </p:spPr>
        <p:txBody>
          <a:bodyPr wrap="square" rtlCol="0" anchor="ctr"/>
          <a:lstStyle/>
          <a:p>
            <a:pPr marL="342900" indent="-342900">
              <a:spcAft>
                <a:spcPts val="600"/>
              </a:spcAft>
              <a:buSzPct val="100000"/>
              <a:buChar char="•"/>
            </a:pPr>
            <a:r>
              <a:rPr lang="en-US" sz="1400" dirty="0">
                <a:solidFill>
                  <a:srgbClr val="2D3748"/>
                </a:solidFill>
                <a:latin typeface="Calibri" pitchFamily="34" charset="0"/>
                <a:ea typeface="Calibri" pitchFamily="34" charset="-122"/>
                <a:cs typeface="Calibri" pitchFamily="34" charset="-120"/>
              </a:rPr>
              <a:t>Tensores y operaciones fundamentales</a:t>
            </a:r>
            <a:endParaRPr lang="en-US" sz="1400" dirty="0"/>
          </a:p>
          <a:p>
            <a:pPr marL="342900" indent="-342900">
              <a:spcAft>
                <a:spcPts val="600"/>
              </a:spcAft>
              <a:buSzPct val="100000"/>
              <a:buChar char="•"/>
            </a:pPr>
            <a:r>
              <a:rPr lang="en-US" sz="1400" dirty="0">
                <a:solidFill>
                  <a:srgbClr val="2D3748"/>
                </a:solidFill>
                <a:latin typeface="Calibri" pitchFamily="34" charset="0"/>
                <a:ea typeface="Calibri" pitchFamily="34" charset="-122"/>
                <a:cs typeface="Calibri" pitchFamily="34" charset="-120"/>
              </a:rPr>
              <a:t>Backpropagation en detalle matematico</a:t>
            </a:r>
            <a:endParaRPr lang="en-US" sz="1400" dirty="0"/>
          </a:p>
          <a:p>
            <a:pPr marL="342900" indent="-342900">
              <a:spcAft>
                <a:spcPts val="600"/>
              </a:spcAft>
              <a:buSzPct val="100000"/>
              <a:buChar char="•"/>
            </a:pPr>
            <a:r>
              <a:rPr lang="en-US" sz="1400" dirty="0">
                <a:solidFill>
                  <a:srgbClr val="2D3748"/>
                </a:solidFill>
                <a:latin typeface="Calibri" pitchFamily="34" charset="0"/>
                <a:ea typeface="Calibri" pitchFamily="34" charset="-122"/>
                <a:cs typeface="Calibri" pitchFamily="34" charset="-120"/>
              </a:rPr>
              <a:t>Funciones de activacion (ReLU, sigmoid, tanh)</a:t>
            </a:r>
            <a:endParaRPr lang="en-US" sz="1400" dirty="0"/>
          </a:p>
          <a:p>
            <a:pPr marL="342900" indent="-342900">
              <a:spcAft>
                <a:spcPts val="600"/>
              </a:spcAft>
              <a:buSzPct val="100000"/>
              <a:buChar char="•"/>
            </a:pPr>
            <a:r>
              <a:rPr lang="en-US" sz="1400" dirty="0">
                <a:solidFill>
                  <a:srgbClr val="2D3748"/>
                </a:solidFill>
                <a:latin typeface="Calibri" pitchFamily="34" charset="0"/>
                <a:ea typeface="Calibri" pitchFamily="34" charset="-122"/>
                <a:cs typeface="Calibri" pitchFamily="34" charset="-120"/>
              </a:rPr>
              <a:t>Optimizadores modernos (Adam, AdaW)</a:t>
            </a:r>
            <a:endParaRPr lang="en-US" sz="1400" dirty="0"/>
          </a:p>
          <a:p>
            <a:pPr marL="342900" indent="-342900">
              <a:spcAft>
                <a:spcPts val="600"/>
              </a:spcAft>
              <a:buSzPct val="100000"/>
              <a:buChar char="•"/>
            </a:pPr>
            <a:r>
              <a:rPr lang="en-US" sz="1400" dirty="0">
                <a:solidFill>
                  <a:srgbClr val="2D3748"/>
                </a:solidFill>
                <a:latin typeface="Calibri" pitchFamily="34" charset="0"/>
                <a:ea typeface="Calibri" pitchFamily="34" charset="-122"/>
                <a:cs typeface="Calibri" pitchFamily="34" charset="-120"/>
              </a:rPr>
              <a:t>Implementacion practica en PyTorch</a:t>
            </a:r>
            <a:endParaRPr lang="en-US" sz="1400" dirty="0"/>
          </a:p>
        </p:txBody>
      </p:sp>
      <p:sp>
        <p:nvSpPr>
          <p:cNvPr id="8" name="Text 6"/>
          <p:cNvSpPr/>
          <p:nvPr/>
        </p:nvSpPr>
        <p:spPr>
          <a:xfrm>
            <a:off x="548640" y="3931920"/>
            <a:ext cx="8046720" cy="274320"/>
          </a:xfrm>
          <a:prstGeom prst="rect">
            <a:avLst/>
          </a:prstGeom>
          <a:noFill/>
          <a:ln/>
        </p:spPr>
        <p:txBody>
          <a:bodyPr wrap="square" lIns="0" tIns="0" rIns="0" bIns="0" rtlCol="0" anchor="ctr"/>
          <a:lstStyle/>
          <a:p>
            <a:pPr indent="0" marL="0">
              <a:buNone/>
            </a:pPr>
            <a:r>
              <a:rPr lang="en-US" sz="1200" b="1" dirty="0">
                <a:solidFill>
                  <a:srgbClr val="718096"/>
                </a:solidFill>
                <a:latin typeface="Calibri" pitchFamily="34" charset="0"/>
                <a:ea typeface="Calibri" pitchFamily="34" charset="-122"/>
                <a:cs typeface="Calibri" pitchFamily="34" charset="-120"/>
              </a:rPr>
              <a:t>Referencias:</a:t>
            </a:r>
            <a:endParaRPr lang="en-US" sz="1200" dirty="0"/>
          </a:p>
        </p:txBody>
      </p:sp>
      <p:sp>
        <p:nvSpPr>
          <p:cNvPr id="9" name="Text 7"/>
          <p:cNvSpPr/>
          <p:nvPr/>
        </p:nvSpPr>
        <p:spPr>
          <a:xfrm>
            <a:off x="548640" y="4206240"/>
            <a:ext cx="8046720" cy="274320"/>
          </a:xfrm>
          <a:prstGeom prst="rect">
            <a:avLst/>
          </a:prstGeom>
          <a:noFill/>
          <a:ln/>
        </p:spPr>
        <p:txBody>
          <a:bodyPr wrap="square" lIns="0" tIns="0" rIns="0" bIns="0" rtlCol="0" anchor="ctr"/>
          <a:lstStyle/>
          <a:p>
            <a:pPr indent="0" marL="0">
              <a:buNone/>
            </a:pPr>
            <a:r>
              <a:rPr lang="en-US" sz="1000" dirty="0">
                <a:solidFill>
                  <a:srgbClr val="718096"/>
                </a:solidFill>
                <a:latin typeface="Calibri" pitchFamily="34" charset="0"/>
                <a:ea typeface="Calibri" pitchFamily="34" charset="-122"/>
                <a:cs typeface="Calibri" pitchFamily="34" charset="-120"/>
              </a:rPr>
              <a:t>Russell &amp; Norvig (2020) AIMA  |  Goodfellow et al. (2016) Deep Learning  |  Vaswani et al. (2017) Attention Is All You Need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L01 - De Reglas a Redes: Introducción al Aprendizaje Automático</dc:title>
  <dc:subject>PptxGenJS Presentation</dc:subject>
  <dc:creator>Salvador Hinojosa</dc:creator>
  <cp:lastModifiedBy>Salvador Hinojosa</cp:lastModifiedBy>
  <cp:revision>1</cp:revision>
  <dcterms:created xsi:type="dcterms:W3CDTF">2026-03-14T18:28:23Z</dcterms:created>
  <dcterms:modified xsi:type="dcterms:W3CDTF">2026-03-14T18:28:23Z</dcterms:modified>
</cp:coreProperties>
</file>